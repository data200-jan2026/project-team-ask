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to Serif" charset="1" panose="02020600060500020200"/>
      <p:regular r:id="rId20"/>
    </p:embeddedFont>
    <p:embeddedFont>
      <p:font typeface="Noto Serif Italics" charset="1" panose="02020600060500090200"/>
      <p:regular r:id="rId21"/>
    </p:embeddedFont>
    <p:embeddedFont>
      <p:font typeface="Noto Serif Bold" charset="1" panose="020208000605000202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162" y="1786680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Statistical Model Selection &amp; Hypothesis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2419" y="4359397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W4 Deliverables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41554" y="6074721"/>
            <a:ext cx="1856149" cy="561384"/>
            <a:chOff x="0" y="0"/>
            <a:chExt cx="2474866" cy="7485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74968" cy="748538"/>
            </a:xfrm>
            <a:custGeom>
              <a:avLst/>
              <a:gdLst/>
              <a:ahLst/>
              <a:cxnLst/>
              <a:rect r="r" b="b" t="t" l="l"/>
              <a:pathLst>
                <a:path h="748538" w="2474968">
                  <a:moveTo>
                    <a:pt x="0" y="133350"/>
                  </a:moveTo>
                  <a:cubicBezTo>
                    <a:pt x="0" y="59690"/>
                    <a:pt x="80013" y="0"/>
                    <a:pt x="178723" y="0"/>
                  </a:cubicBezTo>
                  <a:lnTo>
                    <a:pt x="2296278" y="0"/>
                  </a:lnTo>
                  <a:lnTo>
                    <a:pt x="2296278" y="6350"/>
                  </a:lnTo>
                  <a:lnTo>
                    <a:pt x="2296278" y="0"/>
                  </a:lnTo>
                  <a:cubicBezTo>
                    <a:pt x="2394820" y="0"/>
                    <a:pt x="2474968" y="59690"/>
                    <a:pt x="2474968" y="133350"/>
                  </a:cubicBezTo>
                  <a:lnTo>
                    <a:pt x="2466579" y="133350"/>
                  </a:lnTo>
                  <a:lnTo>
                    <a:pt x="2474968" y="133350"/>
                  </a:lnTo>
                  <a:lnTo>
                    <a:pt x="2474968" y="615188"/>
                  </a:lnTo>
                  <a:lnTo>
                    <a:pt x="2466579" y="615188"/>
                  </a:lnTo>
                  <a:lnTo>
                    <a:pt x="2474968" y="615188"/>
                  </a:lnTo>
                  <a:cubicBezTo>
                    <a:pt x="2474968" y="688848"/>
                    <a:pt x="2394988" y="748538"/>
                    <a:pt x="2296278" y="748538"/>
                  </a:cubicBezTo>
                  <a:lnTo>
                    <a:pt x="2296278" y="742188"/>
                  </a:lnTo>
                  <a:lnTo>
                    <a:pt x="2296278" y="748538"/>
                  </a:lnTo>
                  <a:lnTo>
                    <a:pt x="178723" y="748538"/>
                  </a:lnTo>
                  <a:lnTo>
                    <a:pt x="178723" y="742188"/>
                  </a:lnTo>
                  <a:lnTo>
                    <a:pt x="178723" y="748538"/>
                  </a:lnTo>
                  <a:cubicBezTo>
                    <a:pt x="80013" y="748538"/>
                    <a:pt x="0" y="688848"/>
                    <a:pt x="0" y="615188"/>
                  </a:cubicBezTo>
                  <a:lnTo>
                    <a:pt x="0" y="133350"/>
                  </a:lnTo>
                  <a:lnTo>
                    <a:pt x="8422" y="133350"/>
                  </a:lnTo>
                  <a:lnTo>
                    <a:pt x="0" y="133350"/>
                  </a:lnTo>
                  <a:moveTo>
                    <a:pt x="16845" y="133350"/>
                  </a:moveTo>
                  <a:lnTo>
                    <a:pt x="16845" y="615188"/>
                  </a:lnTo>
                  <a:lnTo>
                    <a:pt x="8422" y="615188"/>
                  </a:lnTo>
                  <a:lnTo>
                    <a:pt x="16845" y="615188"/>
                  </a:lnTo>
                  <a:cubicBezTo>
                    <a:pt x="16845" y="681736"/>
                    <a:pt x="89277" y="735838"/>
                    <a:pt x="178723" y="735838"/>
                  </a:cubicBezTo>
                  <a:lnTo>
                    <a:pt x="2296278" y="735838"/>
                  </a:lnTo>
                  <a:cubicBezTo>
                    <a:pt x="2385724" y="735838"/>
                    <a:pt x="2458156" y="681736"/>
                    <a:pt x="2458156" y="615188"/>
                  </a:cubicBezTo>
                  <a:lnTo>
                    <a:pt x="2458156" y="133350"/>
                  </a:lnTo>
                  <a:cubicBezTo>
                    <a:pt x="2458156" y="66802"/>
                    <a:pt x="2385724" y="12700"/>
                    <a:pt x="2296278" y="12700"/>
                  </a:cubicBezTo>
                  <a:lnTo>
                    <a:pt x="178723" y="12700"/>
                  </a:lnTo>
                  <a:lnTo>
                    <a:pt x="178723" y="6350"/>
                  </a:lnTo>
                  <a:lnTo>
                    <a:pt x="178723" y="12700"/>
                  </a:lnTo>
                  <a:cubicBezTo>
                    <a:pt x="89277" y="12700"/>
                    <a:pt x="16845" y="66802"/>
                    <a:pt x="16845" y="133350"/>
                  </a:cubicBezTo>
                  <a:close/>
                </a:path>
              </a:pathLst>
            </a:custGeom>
            <a:solidFill>
              <a:srgbClr val="9C928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025958" y="6107316"/>
            <a:ext cx="1465603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9C9283"/>
                </a:solidFill>
                <a:latin typeface="Noto Serif"/>
                <a:ea typeface="Noto Serif"/>
                <a:cs typeface="Noto Serif"/>
                <a:sym typeface="Noto Serif"/>
              </a:rPr>
              <a:t>DATA 200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85752" y="6074721"/>
            <a:ext cx="3931291" cy="561384"/>
            <a:chOff x="0" y="0"/>
            <a:chExt cx="5241722" cy="7485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1671" cy="748538"/>
            </a:xfrm>
            <a:custGeom>
              <a:avLst/>
              <a:gdLst/>
              <a:ahLst/>
              <a:cxnLst/>
              <a:rect r="r" b="b" t="t" l="l"/>
              <a:pathLst>
                <a:path h="748538" w="5241671">
                  <a:moveTo>
                    <a:pt x="0" y="133350"/>
                  </a:moveTo>
                  <a:cubicBezTo>
                    <a:pt x="0" y="59563"/>
                    <a:pt x="60579" y="0"/>
                    <a:pt x="135255" y="0"/>
                  </a:cubicBezTo>
                  <a:lnTo>
                    <a:pt x="5106416" y="0"/>
                  </a:lnTo>
                  <a:lnTo>
                    <a:pt x="5106416" y="6350"/>
                  </a:lnTo>
                  <a:lnTo>
                    <a:pt x="5106416" y="0"/>
                  </a:lnTo>
                  <a:cubicBezTo>
                    <a:pt x="5180965" y="0"/>
                    <a:pt x="5241671" y="59563"/>
                    <a:pt x="5241671" y="133350"/>
                  </a:cubicBezTo>
                  <a:lnTo>
                    <a:pt x="5235321" y="133350"/>
                  </a:lnTo>
                  <a:lnTo>
                    <a:pt x="5241671" y="133350"/>
                  </a:lnTo>
                  <a:lnTo>
                    <a:pt x="5241671" y="615188"/>
                  </a:lnTo>
                  <a:lnTo>
                    <a:pt x="5235321" y="615188"/>
                  </a:lnTo>
                  <a:lnTo>
                    <a:pt x="5241671" y="615188"/>
                  </a:lnTo>
                  <a:cubicBezTo>
                    <a:pt x="5241671" y="688975"/>
                    <a:pt x="5181092" y="748538"/>
                    <a:pt x="5106416" y="748538"/>
                  </a:cubicBezTo>
                  <a:lnTo>
                    <a:pt x="5106416" y="742188"/>
                  </a:lnTo>
                  <a:lnTo>
                    <a:pt x="5106416" y="748538"/>
                  </a:lnTo>
                  <a:lnTo>
                    <a:pt x="135255" y="748538"/>
                  </a:lnTo>
                  <a:lnTo>
                    <a:pt x="135255" y="742188"/>
                  </a:lnTo>
                  <a:lnTo>
                    <a:pt x="135255" y="748538"/>
                  </a:lnTo>
                  <a:cubicBezTo>
                    <a:pt x="60579" y="748538"/>
                    <a:pt x="0" y="688848"/>
                    <a:pt x="0" y="615188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615188"/>
                  </a:lnTo>
                  <a:lnTo>
                    <a:pt x="6350" y="615188"/>
                  </a:lnTo>
                  <a:lnTo>
                    <a:pt x="12700" y="615188"/>
                  </a:lnTo>
                  <a:cubicBezTo>
                    <a:pt x="12700" y="681736"/>
                    <a:pt x="67437" y="735838"/>
                    <a:pt x="135255" y="735838"/>
                  </a:cubicBezTo>
                  <a:lnTo>
                    <a:pt x="5106416" y="735838"/>
                  </a:lnTo>
                  <a:cubicBezTo>
                    <a:pt x="5174234" y="735838"/>
                    <a:pt x="5228971" y="681736"/>
                    <a:pt x="5228971" y="615188"/>
                  </a:cubicBezTo>
                  <a:lnTo>
                    <a:pt x="5228971" y="133350"/>
                  </a:lnTo>
                  <a:cubicBezTo>
                    <a:pt x="5228971" y="66802"/>
                    <a:pt x="5174234" y="12700"/>
                    <a:pt x="5106416" y="12700"/>
                  </a:cubicBezTo>
                  <a:lnTo>
                    <a:pt x="135255" y="12700"/>
                  </a:lnTo>
                  <a:lnTo>
                    <a:pt x="135255" y="6350"/>
                  </a:lnTo>
                  <a:lnTo>
                    <a:pt x="135255" y="12700"/>
                  </a:lnTo>
                  <a:cubicBezTo>
                    <a:pt x="67437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9C928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370146" y="6107316"/>
            <a:ext cx="3562502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9C9283"/>
                </a:solidFill>
                <a:latin typeface="Noto Serif"/>
                <a:ea typeface="Noto Serif"/>
                <a:cs typeface="Noto Serif"/>
                <a:sym typeface="Noto Serif"/>
              </a:rPr>
              <a:t>APPLIED STATISTICAL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13777" y="7734491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4C4C4C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Team Members: Kriti Nepal, Aditi Dahal, Samriddhi Sai Khadka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90890"/>
            <a:ext cx="952246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Understanding 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86741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</a:t>
            </a: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187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Problem: </a:t>
            </a: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Schools lack clear, data-driven insights into how study habits, attendance, and background factors influence academic outcomes.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89540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Our Objectives: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687320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6216853"/>
            <a:ext cx="5245446" cy="38100"/>
            <a:chOff x="0" y="0"/>
            <a:chExt cx="6993928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642520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Identify Key Factors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962032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Determine which variables most strongly influence student grades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1206" y="5687320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1206" y="6216853"/>
            <a:ext cx="5245446" cy="38100"/>
            <a:chOff x="0" y="0"/>
            <a:chExt cx="6993928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521206" y="6425203"/>
            <a:ext cx="407461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Build Predictive Models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1206" y="6962032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Create statistical models to forecast performance outcomes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0163" y="5687320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50163" y="6216853"/>
            <a:ext cx="5245446" cy="38100"/>
            <a:chOff x="0" y="0"/>
            <a:chExt cx="6993928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50163" y="6425203"/>
            <a:ext cx="508694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Enable Data-Driven Decisions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50163" y="6962032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Provide actionable insights for academic intervention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4359" y="1044026"/>
            <a:ext cx="6149130" cy="8198939"/>
            <a:chOff x="0" y="0"/>
            <a:chExt cx="8198841" cy="109319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198866" cy="10931906"/>
            </a:xfrm>
            <a:custGeom>
              <a:avLst/>
              <a:gdLst/>
              <a:ahLst/>
              <a:cxnLst/>
              <a:rect r="r" b="b" t="t" l="l"/>
              <a:pathLst>
                <a:path h="10931906" w="8198866">
                  <a:moveTo>
                    <a:pt x="0" y="0"/>
                  </a:moveTo>
                  <a:lnTo>
                    <a:pt x="8198866" y="0"/>
                  </a:lnTo>
                  <a:lnTo>
                    <a:pt x="8198866" y="10931906"/>
                  </a:lnTo>
                  <a:lnTo>
                    <a:pt x="0" y="10931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" r="0" b="-3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863946"/>
            <a:ext cx="9120635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Why Statistical Modelling?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0238" y="2203694"/>
            <a:ext cx="1417587" cy="1701108"/>
            <a:chOff x="0" y="0"/>
            <a:chExt cx="1890116" cy="226814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" r="1" b="-5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51346" y="2477691"/>
            <a:ext cx="3900935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Measure Relationships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51346" y="3014510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Quantify connections between variables with precision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50238" y="3904802"/>
            <a:ext cx="1417587" cy="2087318"/>
            <a:chOff x="0" y="0"/>
            <a:chExt cx="1890116" cy="278309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8901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783078"/>
                  </a:lnTo>
                  <a:lnTo>
                    <a:pt x="0" y="2783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0" t="0" r="-8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51346" y="417879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Quantify Impact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1346" y="4715618"/>
            <a:ext cx="774441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Determine exactly how much each factor affects academic scores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0238" y="5992120"/>
            <a:ext cx="1417587" cy="1701108"/>
            <a:chOff x="0" y="0"/>
            <a:chExt cx="1890116" cy="22681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1" b="-5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51346" y="626610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Test Hypotheses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1346" y="6802936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Apply scientific rigour to validate assumptions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50238" y="7693228"/>
            <a:ext cx="1417587" cy="1701108"/>
            <a:chOff x="0" y="0"/>
            <a:chExt cx="1890116" cy="226814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" r="1" b="-5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51346" y="796721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Predict Outcomes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1346" y="8504034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Forecast future student performance with confidence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21454" y="973341"/>
            <a:ext cx="1004297" cy="390525"/>
            <a:chOff x="0" y="0"/>
            <a:chExt cx="1339063" cy="52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9088" cy="520700"/>
            </a:xfrm>
            <a:custGeom>
              <a:avLst/>
              <a:gdLst/>
              <a:ahLst/>
              <a:cxnLst/>
              <a:rect r="r" b="b" t="t" l="l"/>
              <a:pathLst>
                <a:path h="520700" w="1339088">
                  <a:moveTo>
                    <a:pt x="0" y="100330"/>
                  </a:moveTo>
                  <a:cubicBezTo>
                    <a:pt x="0" y="44958"/>
                    <a:pt x="44958" y="0"/>
                    <a:pt x="100330" y="0"/>
                  </a:cubicBezTo>
                  <a:lnTo>
                    <a:pt x="1238758" y="0"/>
                  </a:lnTo>
                  <a:cubicBezTo>
                    <a:pt x="1294130" y="0"/>
                    <a:pt x="1339088" y="44958"/>
                    <a:pt x="1339088" y="100330"/>
                  </a:cubicBezTo>
                  <a:lnTo>
                    <a:pt x="1339088" y="420370"/>
                  </a:lnTo>
                  <a:cubicBezTo>
                    <a:pt x="1339088" y="475742"/>
                    <a:pt x="1294130" y="520700"/>
                    <a:pt x="1238758" y="520700"/>
                  </a:cubicBezTo>
                  <a:lnTo>
                    <a:pt x="100330" y="520700"/>
                  </a:lnTo>
                  <a:cubicBezTo>
                    <a:pt x="44958" y="520700"/>
                    <a:pt x="0" y="475742"/>
                    <a:pt x="0" y="420370"/>
                  </a:cubicBezTo>
                  <a:close/>
                </a:path>
              </a:pathLst>
            </a:custGeom>
            <a:solidFill>
              <a:srgbClr val="E8E6E3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555699" y="1079002"/>
            <a:ext cx="179041" cy="179041"/>
          </a:xfrm>
          <a:custGeom>
            <a:avLst/>
            <a:gdLst/>
            <a:ahLst/>
            <a:cxnLst/>
            <a:rect r="r" b="b" t="t" l="l"/>
            <a:pathLst>
              <a:path h="179041" w="179041">
                <a:moveTo>
                  <a:pt x="0" y="0"/>
                </a:moveTo>
                <a:lnTo>
                  <a:pt x="179042" y="0"/>
                </a:lnTo>
                <a:lnTo>
                  <a:pt x="179042" y="179041"/>
                </a:lnTo>
                <a:lnTo>
                  <a:pt x="0" y="17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94" r="0" b="-789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02757" y="1000125"/>
            <a:ext cx="734912" cy="2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1438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454" y="1396308"/>
            <a:ext cx="5595938" cy="73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Dataset Overview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60999" y="2398957"/>
            <a:ext cx="6566002" cy="3977430"/>
            <a:chOff x="0" y="0"/>
            <a:chExt cx="8754669" cy="53032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754618" cy="5303266"/>
            </a:xfrm>
            <a:custGeom>
              <a:avLst/>
              <a:gdLst/>
              <a:ahLst/>
              <a:cxnLst/>
              <a:rect r="r" b="b" t="t" l="l"/>
              <a:pathLst>
                <a:path h="5303266" w="8754618">
                  <a:moveTo>
                    <a:pt x="0" y="0"/>
                  </a:moveTo>
                  <a:lnTo>
                    <a:pt x="8754618" y="0"/>
                  </a:lnTo>
                  <a:lnTo>
                    <a:pt x="8754618" y="5303266"/>
                  </a:lnTo>
                  <a:lnTo>
                    <a:pt x="0" y="5303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5" r="0" b="-7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07166" y="6560791"/>
            <a:ext cx="5059118" cy="1309535"/>
            <a:chOff x="0" y="0"/>
            <a:chExt cx="6745491" cy="17460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9050" y="19050"/>
              <a:ext cx="6707378" cy="1707896"/>
            </a:xfrm>
            <a:custGeom>
              <a:avLst/>
              <a:gdLst/>
              <a:ahLst/>
              <a:cxnLst/>
              <a:rect r="r" b="b" t="t" l="l"/>
              <a:pathLst>
                <a:path h="1707896" w="6707378">
                  <a:moveTo>
                    <a:pt x="0" y="125349"/>
                  </a:moveTo>
                  <a:cubicBezTo>
                    <a:pt x="0" y="56134"/>
                    <a:pt x="57023" y="0"/>
                    <a:pt x="127381" y="0"/>
                  </a:cubicBezTo>
                  <a:lnTo>
                    <a:pt x="6579997" y="0"/>
                  </a:lnTo>
                  <a:cubicBezTo>
                    <a:pt x="6650355" y="0"/>
                    <a:pt x="6707378" y="56134"/>
                    <a:pt x="6707378" y="125349"/>
                  </a:cubicBezTo>
                  <a:lnTo>
                    <a:pt x="6707378" y="1582547"/>
                  </a:lnTo>
                  <a:cubicBezTo>
                    <a:pt x="6707378" y="1651762"/>
                    <a:pt x="6650355" y="1707896"/>
                    <a:pt x="6579997" y="1707896"/>
                  </a:cubicBezTo>
                  <a:lnTo>
                    <a:pt x="127381" y="1707896"/>
                  </a:lnTo>
                  <a:cubicBezTo>
                    <a:pt x="57023" y="1707896"/>
                    <a:pt x="0" y="1651762"/>
                    <a:pt x="0" y="158254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45478" cy="1745996"/>
            </a:xfrm>
            <a:custGeom>
              <a:avLst/>
              <a:gdLst/>
              <a:ahLst/>
              <a:cxnLst/>
              <a:rect r="r" b="b" t="t" l="l"/>
              <a:pathLst>
                <a:path h="1745996" w="6745478">
                  <a:moveTo>
                    <a:pt x="0" y="144399"/>
                  </a:moveTo>
                  <a:cubicBezTo>
                    <a:pt x="0" y="64389"/>
                    <a:pt x="65913" y="0"/>
                    <a:pt x="146431" y="0"/>
                  </a:cubicBezTo>
                  <a:lnTo>
                    <a:pt x="6599047" y="0"/>
                  </a:lnTo>
                  <a:lnTo>
                    <a:pt x="6599047" y="19050"/>
                  </a:lnTo>
                  <a:lnTo>
                    <a:pt x="6599047" y="0"/>
                  </a:lnTo>
                  <a:cubicBezTo>
                    <a:pt x="6679692" y="0"/>
                    <a:pt x="6745478" y="64389"/>
                    <a:pt x="6745478" y="144399"/>
                  </a:cubicBezTo>
                  <a:lnTo>
                    <a:pt x="6726428" y="144399"/>
                  </a:lnTo>
                  <a:lnTo>
                    <a:pt x="6745478" y="144399"/>
                  </a:lnTo>
                  <a:lnTo>
                    <a:pt x="6745478" y="1601597"/>
                  </a:lnTo>
                  <a:lnTo>
                    <a:pt x="6726428" y="1601597"/>
                  </a:lnTo>
                  <a:lnTo>
                    <a:pt x="6745478" y="1601597"/>
                  </a:lnTo>
                  <a:cubicBezTo>
                    <a:pt x="6745478" y="1681607"/>
                    <a:pt x="6679565" y="1745996"/>
                    <a:pt x="6599047" y="1745996"/>
                  </a:cubicBezTo>
                  <a:lnTo>
                    <a:pt x="6599047" y="1726946"/>
                  </a:lnTo>
                  <a:lnTo>
                    <a:pt x="6599047" y="1745996"/>
                  </a:lnTo>
                  <a:lnTo>
                    <a:pt x="146431" y="1745996"/>
                  </a:lnTo>
                  <a:lnTo>
                    <a:pt x="146431" y="1726946"/>
                  </a:lnTo>
                  <a:lnTo>
                    <a:pt x="146431" y="1745996"/>
                  </a:lnTo>
                  <a:cubicBezTo>
                    <a:pt x="65913" y="1745996"/>
                    <a:pt x="0" y="1681734"/>
                    <a:pt x="0" y="1601597"/>
                  </a:cubicBezTo>
                  <a:lnTo>
                    <a:pt x="0" y="144399"/>
                  </a:lnTo>
                  <a:lnTo>
                    <a:pt x="19050" y="144399"/>
                  </a:lnTo>
                  <a:lnTo>
                    <a:pt x="0" y="144399"/>
                  </a:lnTo>
                  <a:moveTo>
                    <a:pt x="38100" y="144399"/>
                  </a:moveTo>
                  <a:lnTo>
                    <a:pt x="38100" y="1601597"/>
                  </a:lnTo>
                  <a:lnTo>
                    <a:pt x="19050" y="1601597"/>
                  </a:lnTo>
                  <a:lnTo>
                    <a:pt x="38100" y="1601597"/>
                  </a:lnTo>
                  <a:cubicBezTo>
                    <a:pt x="38100" y="1660017"/>
                    <a:pt x="86360" y="1707896"/>
                    <a:pt x="146431" y="1707896"/>
                  </a:cubicBezTo>
                  <a:lnTo>
                    <a:pt x="6599047" y="1707896"/>
                  </a:lnTo>
                  <a:cubicBezTo>
                    <a:pt x="6659245" y="1707896"/>
                    <a:pt x="6707378" y="1660017"/>
                    <a:pt x="6707378" y="1601597"/>
                  </a:cubicBezTo>
                  <a:lnTo>
                    <a:pt x="6707378" y="144399"/>
                  </a:lnTo>
                  <a:cubicBezTo>
                    <a:pt x="6707378" y="85979"/>
                    <a:pt x="6659118" y="38100"/>
                    <a:pt x="6599047" y="38100"/>
                  </a:cubicBezTo>
                  <a:lnTo>
                    <a:pt x="146431" y="38100"/>
                  </a:lnTo>
                  <a:lnTo>
                    <a:pt x="146431" y="19050"/>
                  </a:lnTo>
                  <a:lnTo>
                    <a:pt x="146431" y="38100"/>
                  </a:lnTo>
                  <a:cubicBezTo>
                    <a:pt x="86360" y="38100"/>
                    <a:pt x="38100" y="85979"/>
                    <a:pt x="38100" y="144399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37670" y="6817966"/>
            <a:ext cx="2797969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Demographics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3866" y="7254631"/>
            <a:ext cx="4525718" cy="34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Age, gender, school type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14370" y="6560791"/>
            <a:ext cx="5059118" cy="1309535"/>
            <a:chOff x="0" y="0"/>
            <a:chExt cx="6745491" cy="1746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6707378" cy="1707896"/>
            </a:xfrm>
            <a:custGeom>
              <a:avLst/>
              <a:gdLst/>
              <a:ahLst/>
              <a:cxnLst/>
              <a:rect r="r" b="b" t="t" l="l"/>
              <a:pathLst>
                <a:path h="1707896" w="6707378">
                  <a:moveTo>
                    <a:pt x="0" y="125349"/>
                  </a:moveTo>
                  <a:cubicBezTo>
                    <a:pt x="0" y="56134"/>
                    <a:pt x="57023" y="0"/>
                    <a:pt x="127381" y="0"/>
                  </a:cubicBezTo>
                  <a:lnTo>
                    <a:pt x="6579997" y="0"/>
                  </a:lnTo>
                  <a:cubicBezTo>
                    <a:pt x="6650355" y="0"/>
                    <a:pt x="6707378" y="56134"/>
                    <a:pt x="6707378" y="125349"/>
                  </a:cubicBezTo>
                  <a:lnTo>
                    <a:pt x="6707378" y="1582547"/>
                  </a:lnTo>
                  <a:cubicBezTo>
                    <a:pt x="6707378" y="1651762"/>
                    <a:pt x="6650355" y="1707896"/>
                    <a:pt x="6579997" y="1707896"/>
                  </a:cubicBezTo>
                  <a:lnTo>
                    <a:pt x="127381" y="1707896"/>
                  </a:lnTo>
                  <a:cubicBezTo>
                    <a:pt x="57023" y="1707896"/>
                    <a:pt x="0" y="1651762"/>
                    <a:pt x="0" y="158254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45478" cy="1745996"/>
            </a:xfrm>
            <a:custGeom>
              <a:avLst/>
              <a:gdLst/>
              <a:ahLst/>
              <a:cxnLst/>
              <a:rect r="r" b="b" t="t" l="l"/>
              <a:pathLst>
                <a:path h="1745996" w="6745478">
                  <a:moveTo>
                    <a:pt x="0" y="144399"/>
                  </a:moveTo>
                  <a:cubicBezTo>
                    <a:pt x="0" y="64389"/>
                    <a:pt x="65913" y="0"/>
                    <a:pt x="146431" y="0"/>
                  </a:cubicBezTo>
                  <a:lnTo>
                    <a:pt x="6599047" y="0"/>
                  </a:lnTo>
                  <a:lnTo>
                    <a:pt x="6599047" y="19050"/>
                  </a:lnTo>
                  <a:lnTo>
                    <a:pt x="6599047" y="0"/>
                  </a:lnTo>
                  <a:cubicBezTo>
                    <a:pt x="6679692" y="0"/>
                    <a:pt x="6745478" y="64389"/>
                    <a:pt x="6745478" y="144399"/>
                  </a:cubicBezTo>
                  <a:lnTo>
                    <a:pt x="6726428" y="144399"/>
                  </a:lnTo>
                  <a:lnTo>
                    <a:pt x="6745478" y="144399"/>
                  </a:lnTo>
                  <a:lnTo>
                    <a:pt x="6745478" y="1601597"/>
                  </a:lnTo>
                  <a:lnTo>
                    <a:pt x="6726428" y="1601597"/>
                  </a:lnTo>
                  <a:lnTo>
                    <a:pt x="6745478" y="1601597"/>
                  </a:lnTo>
                  <a:cubicBezTo>
                    <a:pt x="6745478" y="1681607"/>
                    <a:pt x="6679565" y="1745996"/>
                    <a:pt x="6599047" y="1745996"/>
                  </a:cubicBezTo>
                  <a:lnTo>
                    <a:pt x="6599047" y="1726946"/>
                  </a:lnTo>
                  <a:lnTo>
                    <a:pt x="6599047" y="1745996"/>
                  </a:lnTo>
                  <a:lnTo>
                    <a:pt x="146431" y="1745996"/>
                  </a:lnTo>
                  <a:lnTo>
                    <a:pt x="146431" y="1726946"/>
                  </a:lnTo>
                  <a:lnTo>
                    <a:pt x="146431" y="1745996"/>
                  </a:lnTo>
                  <a:cubicBezTo>
                    <a:pt x="65913" y="1745996"/>
                    <a:pt x="0" y="1681734"/>
                    <a:pt x="0" y="1601597"/>
                  </a:cubicBezTo>
                  <a:lnTo>
                    <a:pt x="0" y="144399"/>
                  </a:lnTo>
                  <a:lnTo>
                    <a:pt x="19050" y="144399"/>
                  </a:lnTo>
                  <a:lnTo>
                    <a:pt x="0" y="144399"/>
                  </a:lnTo>
                  <a:moveTo>
                    <a:pt x="38100" y="144399"/>
                  </a:moveTo>
                  <a:lnTo>
                    <a:pt x="38100" y="1601597"/>
                  </a:lnTo>
                  <a:lnTo>
                    <a:pt x="19050" y="1601597"/>
                  </a:lnTo>
                  <a:lnTo>
                    <a:pt x="38100" y="1601597"/>
                  </a:lnTo>
                  <a:cubicBezTo>
                    <a:pt x="38100" y="1660017"/>
                    <a:pt x="86360" y="1707896"/>
                    <a:pt x="146431" y="1707896"/>
                  </a:cubicBezTo>
                  <a:lnTo>
                    <a:pt x="6599047" y="1707896"/>
                  </a:lnTo>
                  <a:cubicBezTo>
                    <a:pt x="6659245" y="1707896"/>
                    <a:pt x="6707378" y="1660017"/>
                    <a:pt x="6707378" y="1601597"/>
                  </a:cubicBezTo>
                  <a:lnTo>
                    <a:pt x="6707378" y="144399"/>
                  </a:lnTo>
                  <a:cubicBezTo>
                    <a:pt x="6707378" y="85979"/>
                    <a:pt x="6659118" y="38100"/>
                    <a:pt x="6599047" y="38100"/>
                  </a:cubicBezTo>
                  <a:lnTo>
                    <a:pt x="146431" y="38100"/>
                  </a:lnTo>
                  <a:lnTo>
                    <a:pt x="146431" y="19050"/>
                  </a:lnTo>
                  <a:lnTo>
                    <a:pt x="146431" y="38100"/>
                  </a:lnTo>
                  <a:cubicBezTo>
                    <a:pt x="86360" y="38100"/>
                    <a:pt x="38100" y="85979"/>
                    <a:pt x="38100" y="144399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744863" y="6817966"/>
            <a:ext cx="2797969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Family Context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1070" y="7254631"/>
            <a:ext cx="4525718" cy="34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Parental education levels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21563" y="6560791"/>
            <a:ext cx="5059118" cy="1309535"/>
            <a:chOff x="0" y="0"/>
            <a:chExt cx="6745491" cy="174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6707378" cy="1707896"/>
            </a:xfrm>
            <a:custGeom>
              <a:avLst/>
              <a:gdLst/>
              <a:ahLst/>
              <a:cxnLst/>
              <a:rect r="r" b="b" t="t" l="l"/>
              <a:pathLst>
                <a:path h="1707896" w="6707378">
                  <a:moveTo>
                    <a:pt x="0" y="125349"/>
                  </a:moveTo>
                  <a:cubicBezTo>
                    <a:pt x="0" y="56134"/>
                    <a:pt x="57023" y="0"/>
                    <a:pt x="127381" y="0"/>
                  </a:cubicBezTo>
                  <a:lnTo>
                    <a:pt x="6579997" y="0"/>
                  </a:lnTo>
                  <a:cubicBezTo>
                    <a:pt x="6650355" y="0"/>
                    <a:pt x="6707378" y="56134"/>
                    <a:pt x="6707378" y="125349"/>
                  </a:cubicBezTo>
                  <a:lnTo>
                    <a:pt x="6707378" y="1582547"/>
                  </a:lnTo>
                  <a:cubicBezTo>
                    <a:pt x="6707378" y="1651762"/>
                    <a:pt x="6650355" y="1707896"/>
                    <a:pt x="6579997" y="1707896"/>
                  </a:cubicBezTo>
                  <a:lnTo>
                    <a:pt x="127381" y="1707896"/>
                  </a:lnTo>
                  <a:cubicBezTo>
                    <a:pt x="57023" y="1707896"/>
                    <a:pt x="0" y="1651762"/>
                    <a:pt x="0" y="158254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45478" cy="1745996"/>
            </a:xfrm>
            <a:custGeom>
              <a:avLst/>
              <a:gdLst/>
              <a:ahLst/>
              <a:cxnLst/>
              <a:rect r="r" b="b" t="t" l="l"/>
              <a:pathLst>
                <a:path h="1745996" w="6745478">
                  <a:moveTo>
                    <a:pt x="0" y="144399"/>
                  </a:moveTo>
                  <a:cubicBezTo>
                    <a:pt x="0" y="64389"/>
                    <a:pt x="65913" y="0"/>
                    <a:pt x="146431" y="0"/>
                  </a:cubicBezTo>
                  <a:lnTo>
                    <a:pt x="6599047" y="0"/>
                  </a:lnTo>
                  <a:lnTo>
                    <a:pt x="6599047" y="19050"/>
                  </a:lnTo>
                  <a:lnTo>
                    <a:pt x="6599047" y="0"/>
                  </a:lnTo>
                  <a:cubicBezTo>
                    <a:pt x="6679692" y="0"/>
                    <a:pt x="6745478" y="64389"/>
                    <a:pt x="6745478" y="144399"/>
                  </a:cubicBezTo>
                  <a:lnTo>
                    <a:pt x="6726428" y="144399"/>
                  </a:lnTo>
                  <a:lnTo>
                    <a:pt x="6745478" y="144399"/>
                  </a:lnTo>
                  <a:lnTo>
                    <a:pt x="6745478" y="1601597"/>
                  </a:lnTo>
                  <a:lnTo>
                    <a:pt x="6726428" y="1601597"/>
                  </a:lnTo>
                  <a:lnTo>
                    <a:pt x="6745478" y="1601597"/>
                  </a:lnTo>
                  <a:cubicBezTo>
                    <a:pt x="6745478" y="1681607"/>
                    <a:pt x="6679565" y="1745996"/>
                    <a:pt x="6599047" y="1745996"/>
                  </a:cubicBezTo>
                  <a:lnTo>
                    <a:pt x="6599047" y="1726946"/>
                  </a:lnTo>
                  <a:lnTo>
                    <a:pt x="6599047" y="1745996"/>
                  </a:lnTo>
                  <a:lnTo>
                    <a:pt x="146431" y="1745996"/>
                  </a:lnTo>
                  <a:lnTo>
                    <a:pt x="146431" y="1726946"/>
                  </a:lnTo>
                  <a:lnTo>
                    <a:pt x="146431" y="1745996"/>
                  </a:lnTo>
                  <a:cubicBezTo>
                    <a:pt x="65913" y="1745996"/>
                    <a:pt x="0" y="1681734"/>
                    <a:pt x="0" y="1601597"/>
                  </a:cubicBezTo>
                  <a:lnTo>
                    <a:pt x="0" y="144399"/>
                  </a:lnTo>
                  <a:lnTo>
                    <a:pt x="19050" y="144399"/>
                  </a:lnTo>
                  <a:lnTo>
                    <a:pt x="0" y="144399"/>
                  </a:lnTo>
                  <a:moveTo>
                    <a:pt x="38100" y="144399"/>
                  </a:moveTo>
                  <a:lnTo>
                    <a:pt x="38100" y="1601597"/>
                  </a:lnTo>
                  <a:lnTo>
                    <a:pt x="19050" y="1601597"/>
                  </a:lnTo>
                  <a:lnTo>
                    <a:pt x="38100" y="1601597"/>
                  </a:lnTo>
                  <a:cubicBezTo>
                    <a:pt x="38100" y="1660017"/>
                    <a:pt x="86360" y="1707896"/>
                    <a:pt x="146431" y="1707896"/>
                  </a:cubicBezTo>
                  <a:lnTo>
                    <a:pt x="6599047" y="1707896"/>
                  </a:lnTo>
                  <a:cubicBezTo>
                    <a:pt x="6659245" y="1707896"/>
                    <a:pt x="6707378" y="1660017"/>
                    <a:pt x="6707378" y="1601597"/>
                  </a:cubicBezTo>
                  <a:lnTo>
                    <a:pt x="6707378" y="144399"/>
                  </a:lnTo>
                  <a:cubicBezTo>
                    <a:pt x="6707378" y="85979"/>
                    <a:pt x="6659118" y="38100"/>
                    <a:pt x="6599047" y="38100"/>
                  </a:cubicBezTo>
                  <a:lnTo>
                    <a:pt x="146431" y="38100"/>
                  </a:lnTo>
                  <a:lnTo>
                    <a:pt x="146431" y="19050"/>
                  </a:lnTo>
                  <a:lnTo>
                    <a:pt x="146431" y="38100"/>
                  </a:lnTo>
                  <a:cubicBezTo>
                    <a:pt x="86360" y="38100"/>
                    <a:pt x="38100" y="85979"/>
                    <a:pt x="38100" y="144399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952066" y="6817966"/>
            <a:ext cx="2797969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Study Patterns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88263" y="7254631"/>
            <a:ext cx="4525718" cy="34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Hours studied, methods, internet access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07166" y="8018412"/>
            <a:ext cx="7662710" cy="1309535"/>
            <a:chOff x="0" y="0"/>
            <a:chExt cx="10216947" cy="17460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10178796" cy="1707896"/>
            </a:xfrm>
            <a:custGeom>
              <a:avLst/>
              <a:gdLst/>
              <a:ahLst/>
              <a:cxnLst/>
              <a:rect r="r" b="b" t="t" l="l"/>
              <a:pathLst>
                <a:path h="1707896" w="10178796">
                  <a:moveTo>
                    <a:pt x="0" y="125349"/>
                  </a:moveTo>
                  <a:cubicBezTo>
                    <a:pt x="0" y="56134"/>
                    <a:pt x="57150" y="0"/>
                    <a:pt x="127635" y="0"/>
                  </a:cubicBezTo>
                  <a:lnTo>
                    <a:pt x="10051161" y="0"/>
                  </a:lnTo>
                  <a:cubicBezTo>
                    <a:pt x="10121646" y="0"/>
                    <a:pt x="10178796" y="56134"/>
                    <a:pt x="10178796" y="125349"/>
                  </a:cubicBezTo>
                  <a:lnTo>
                    <a:pt x="10178796" y="1582547"/>
                  </a:lnTo>
                  <a:cubicBezTo>
                    <a:pt x="10178796" y="1651762"/>
                    <a:pt x="10121646" y="1707896"/>
                    <a:pt x="10051161" y="1707896"/>
                  </a:cubicBezTo>
                  <a:lnTo>
                    <a:pt x="127635" y="1707896"/>
                  </a:lnTo>
                  <a:cubicBezTo>
                    <a:pt x="57150" y="1707896"/>
                    <a:pt x="0" y="1651762"/>
                    <a:pt x="0" y="158254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16896" cy="1745996"/>
            </a:xfrm>
            <a:custGeom>
              <a:avLst/>
              <a:gdLst/>
              <a:ahLst/>
              <a:cxnLst/>
              <a:rect r="r" b="b" t="t" l="l"/>
              <a:pathLst>
                <a:path h="1745996" w="10216896">
                  <a:moveTo>
                    <a:pt x="0" y="144399"/>
                  </a:moveTo>
                  <a:cubicBezTo>
                    <a:pt x="0" y="64262"/>
                    <a:pt x="66040" y="0"/>
                    <a:pt x="146685" y="0"/>
                  </a:cubicBezTo>
                  <a:lnTo>
                    <a:pt x="10070211" y="0"/>
                  </a:lnTo>
                  <a:lnTo>
                    <a:pt x="10070211" y="19050"/>
                  </a:lnTo>
                  <a:lnTo>
                    <a:pt x="10070211" y="0"/>
                  </a:lnTo>
                  <a:cubicBezTo>
                    <a:pt x="10150856" y="0"/>
                    <a:pt x="10216896" y="64262"/>
                    <a:pt x="10216896" y="144399"/>
                  </a:cubicBezTo>
                  <a:lnTo>
                    <a:pt x="10197846" y="144399"/>
                  </a:lnTo>
                  <a:lnTo>
                    <a:pt x="10216896" y="144399"/>
                  </a:lnTo>
                  <a:lnTo>
                    <a:pt x="10216896" y="1601597"/>
                  </a:lnTo>
                  <a:lnTo>
                    <a:pt x="10197846" y="1601597"/>
                  </a:lnTo>
                  <a:lnTo>
                    <a:pt x="10216896" y="1601597"/>
                  </a:lnTo>
                  <a:cubicBezTo>
                    <a:pt x="10216896" y="1681734"/>
                    <a:pt x="10150856" y="1745996"/>
                    <a:pt x="10070211" y="1745996"/>
                  </a:cubicBezTo>
                  <a:lnTo>
                    <a:pt x="10070211" y="1726946"/>
                  </a:lnTo>
                  <a:lnTo>
                    <a:pt x="10070211" y="1745996"/>
                  </a:lnTo>
                  <a:lnTo>
                    <a:pt x="146685" y="1745996"/>
                  </a:lnTo>
                  <a:lnTo>
                    <a:pt x="146685" y="1726946"/>
                  </a:lnTo>
                  <a:lnTo>
                    <a:pt x="146685" y="1745996"/>
                  </a:lnTo>
                  <a:cubicBezTo>
                    <a:pt x="66040" y="1745996"/>
                    <a:pt x="0" y="1681734"/>
                    <a:pt x="0" y="1601597"/>
                  </a:cubicBezTo>
                  <a:lnTo>
                    <a:pt x="0" y="144399"/>
                  </a:lnTo>
                  <a:lnTo>
                    <a:pt x="19050" y="144399"/>
                  </a:lnTo>
                  <a:lnTo>
                    <a:pt x="0" y="144399"/>
                  </a:lnTo>
                  <a:moveTo>
                    <a:pt x="38100" y="144399"/>
                  </a:moveTo>
                  <a:lnTo>
                    <a:pt x="38100" y="1601597"/>
                  </a:lnTo>
                  <a:lnTo>
                    <a:pt x="19050" y="1601597"/>
                  </a:lnTo>
                  <a:lnTo>
                    <a:pt x="38100" y="1601597"/>
                  </a:lnTo>
                  <a:cubicBezTo>
                    <a:pt x="38100" y="1660017"/>
                    <a:pt x="86360" y="1707896"/>
                    <a:pt x="146685" y="1707896"/>
                  </a:cubicBezTo>
                  <a:lnTo>
                    <a:pt x="10070211" y="1707896"/>
                  </a:lnTo>
                  <a:cubicBezTo>
                    <a:pt x="10130536" y="1707896"/>
                    <a:pt x="10178796" y="1660017"/>
                    <a:pt x="10178796" y="1601597"/>
                  </a:cubicBezTo>
                  <a:lnTo>
                    <a:pt x="10178796" y="144399"/>
                  </a:lnTo>
                  <a:cubicBezTo>
                    <a:pt x="10178796" y="85979"/>
                    <a:pt x="10130536" y="38100"/>
                    <a:pt x="10070211" y="38100"/>
                  </a:cubicBezTo>
                  <a:lnTo>
                    <a:pt x="146685" y="38100"/>
                  </a:lnTo>
                  <a:lnTo>
                    <a:pt x="146685" y="19050"/>
                  </a:lnTo>
                  <a:lnTo>
                    <a:pt x="146685" y="38100"/>
                  </a:lnTo>
                  <a:cubicBezTo>
                    <a:pt x="86360" y="38100"/>
                    <a:pt x="38100" y="85979"/>
                    <a:pt x="38100" y="144399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3839470" y="8275587"/>
            <a:ext cx="2797969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Engagement Metrics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3866" y="8712251"/>
            <a:ext cx="7129310" cy="34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Attendance, travel time, activities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17971" y="8018412"/>
            <a:ext cx="7662710" cy="1309535"/>
            <a:chOff x="0" y="0"/>
            <a:chExt cx="10216947" cy="17460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10178796" cy="1707896"/>
            </a:xfrm>
            <a:custGeom>
              <a:avLst/>
              <a:gdLst/>
              <a:ahLst/>
              <a:cxnLst/>
              <a:rect r="r" b="b" t="t" l="l"/>
              <a:pathLst>
                <a:path h="1707896" w="10178796">
                  <a:moveTo>
                    <a:pt x="0" y="125349"/>
                  </a:moveTo>
                  <a:cubicBezTo>
                    <a:pt x="0" y="56134"/>
                    <a:pt x="57150" y="0"/>
                    <a:pt x="127635" y="0"/>
                  </a:cubicBezTo>
                  <a:lnTo>
                    <a:pt x="10051161" y="0"/>
                  </a:lnTo>
                  <a:cubicBezTo>
                    <a:pt x="10121646" y="0"/>
                    <a:pt x="10178796" y="56134"/>
                    <a:pt x="10178796" y="125349"/>
                  </a:cubicBezTo>
                  <a:lnTo>
                    <a:pt x="10178796" y="1582547"/>
                  </a:lnTo>
                  <a:cubicBezTo>
                    <a:pt x="10178796" y="1651762"/>
                    <a:pt x="10121646" y="1707896"/>
                    <a:pt x="10051161" y="1707896"/>
                  </a:cubicBezTo>
                  <a:lnTo>
                    <a:pt x="127635" y="1707896"/>
                  </a:lnTo>
                  <a:cubicBezTo>
                    <a:pt x="57150" y="1707896"/>
                    <a:pt x="0" y="1651762"/>
                    <a:pt x="0" y="158254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16896" cy="1745996"/>
            </a:xfrm>
            <a:custGeom>
              <a:avLst/>
              <a:gdLst/>
              <a:ahLst/>
              <a:cxnLst/>
              <a:rect r="r" b="b" t="t" l="l"/>
              <a:pathLst>
                <a:path h="1745996" w="10216896">
                  <a:moveTo>
                    <a:pt x="0" y="144399"/>
                  </a:moveTo>
                  <a:cubicBezTo>
                    <a:pt x="0" y="64262"/>
                    <a:pt x="66040" y="0"/>
                    <a:pt x="146685" y="0"/>
                  </a:cubicBezTo>
                  <a:lnTo>
                    <a:pt x="10070211" y="0"/>
                  </a:lnTo>
                  <a:lnTo>
                    <a:pt x="10070211" y="19050"/>
                  </a:lnTo>
                  <a:lnTo>
                    <a:pt x="10070211" y="0"/>
                  </a:lnTo>
                  <a:cubicBezTo>
                    <a:pt x="10150856" y="0"/>
                    <a:pt x="10216896" y="64262"/>
                    <a:pt x="10216896" y="144399"/>
                  </a:cubicBezTo>
                  <a:lnTo>
                    <a:pt x="10197846" y="144399"/>
                  </a:lnTo>
                  <a:lnTo>
                    <a:pt x="10216896" y="144399"/>
                  </a:lnTo>
                  <a:lnTo>
                    <a:pt x="10216896" y="1601597"/>
                  </a:lnTo>
                  <a:lnTo>
                    <a:pt x="10197846" y="1601597"/>
                  </a:lnTo>
                  <a:lnTo>
                    <a:pt x="10216896" y="1601597"/>
                  </a:lnTo>
                  <a:cubicBezTo>
                    <a:pt x="10216896" y="1681734"/>
                    <a:pt x="10150856" y="1745996"/>
                    <a:pt x="10070211" y="1745996"/>
                  </a:cubicBezTo>
                  <a:lnTo>
                    <a:pt x="10070211" y="1726946"/>
                  </a:lnTo>
                  <a:lnTo>
                    <a:pt x="10070211" y="1745996"/>
                  </a:lnTo>
                  <a:lnTo>
                    <a:pt x="146685" y="1745996"/>
                  </a:lnTo>
                  <a:lnTo>
                    <a:pt x="146685" y="1726946"/>
                  </a:lnTo>
                  <a:lnTo>
                    <a:pt x="146685" y="1745996"/>
                  </a:lnTo>
                  <a:cubicBezTo>
                    <a:pt x="66040" y="1745996"/>
                    <a:pt x="0" y="1681734"/>
                    <a:pt x="0" y="1601597"/>
                  </a:cubicBezTo>
                  <a:lnTo>
                    <a:pt x="0" y="144399"/>
                  </a:lnTo>
                  <a:lnTo>
                    <a:pt x="19050" y="144399"/>
                  </a:lnTo>
                  <a:lnTo>
                    <a:pt x="0" y="144399"/>
                  </a:lnTo>
                  <a:moveTo>
                    <a:pt x="38100" y="144399"/>
                  </a:moveTo>
                  <a:lnTo>
                    <a:pt x="38100" y="1601597"/>
                  </a:lnTo>
                  <a:lnTo>
                    <a:pt x="19050" y="1601597"/>
                  </a:lnTo>
                  <a:lnTo>
                    <a:pt x="38100" y="1601597"/>
                  </a:lnTo>
                  <a:cubicBezTo>
                    <a:pt x="38100" y="1660017"/>
                    <a:pt x="86360" y="1707896"/>
                    <a:pt x="146685" y="1707896"/>
                  </a:cubicBezTo>
                  <a:lnTo>
                    <a:pt x="10070211" y="1707896"/>
                  </a:lnTo>
                  <a:cubicBezTo>
                    <a:pt x="10130536" y="1707896"/>
                    <a:pt x="10178796" y="1660017"/>
                    <a:pt x="10178796" y="1601597"/>
                  </a:cubicBezTo>
                  <a:lnTo>
                    <a:pt x="10178796" y="144399"/>
                  </a:lnTo>
                  <a:cubicBezTo>
                    <a:pt x="10178796" y="85979"/>
                    <a:pt x="10130536" y="38100"/>
                    <a:pt x="10070211" y="38100"/>
                  </a:cubicBezTo>
                  <a:lnTo>
                    <a:pt x="146685" y="38100"/>
                  </a:lnTo>
                  <a:lnTo>
                    <a:pt x="146685" y="19050"/>
                  </a:lnTo>
                  <a:lnTo>
                    <a:pt x="146685" y="38100"/>
                  </a:lnTo>
                  <a:cubicBezTo>
                    <a:pt x="86360" y="38100"/>
                    <a:pt x="38100" y="85979"/>
                    <a:pt x="38100" y="144399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650266" y="8275587"/>
            <a:ext cx="2797969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Academic Results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84671" y="8712251"/>
            <a:ext cx="7129310" cy="34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Subject scores, overall grade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04937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Models Evaluated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86523"/>
            <a:ext cx="3014958" cy="3014958"/>
            <a:chOff x="0" y="0"/>
            <a:chExt cx="4019944" cy="401994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019931" cy="4019931"/>
            </a:xfrm>
            <a:custGeom>
              <a:avLst/>
              <a:gdLst/>
              <a:ahLst/>
              <a:cxnLst/>
              <a:rect r="r" b="b" t="t" l="l"/>
              <a:pathLst>
                <a:path h="401993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4019931"/>
                  </a:lnTo>
                  <a:lnTo>
                    <a:pt x="0" y="40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624631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Linear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783143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Purpose:</a:t>
            </a: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Predict continuous score values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860506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Quantifies how each factor increases or decreases marks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4866" y="2886523"/>
            <a:ext cx="3014958" cy="3014958"/>
            <a:chOff x="0" y="0"/>
            <a:chExt cx="4019944" cy="401994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19931" cy="4019931"/>
            </a:xfrm>
            <a:custGeom>
              <a:avLst/>
              <a:gdLst/>
              <a:ahLst/>
              <a:cxnLst/>
              <a:rect r="r" b="b" t="t" l="l"/>
              <a:pathLst>
                <a:path h="401993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4019931"/>
                  </a:lnTo>
                  <a:lnTo>
                    <a:pt x="0" y="40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44866" y="624631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Logistic Regression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4866" y="6783143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Purpose:</a:t>
            </a: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Predict categorical outcomes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4866" y="7860506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Estimates probability of Pass/Fail or grade groupings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97493" y="2886523"/>
            <a:ext cx="3014958" cy="3014958"/>
            <a:chOff x="0" y="0"/>
            <a:chExt cx="4019944" cy="4019944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019931" cy="4019931"/>
            </a:xfrm>
            <a:custGeom>
              <a:avLst/>
              <a:gdLst/>
              <a:ahLst/>
              <a:cxnLst/>
              <a:rect r="r" b="b" t="t" l="l"/>
              <a:pathLst>
                <a:path h="401993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4019931"/>
                  </a:lnTo>
                  <a:lnTo>
                    <a:pt x="0" y="40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97493" y="624631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ANOVA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7493" y="6783143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Purpose:</a:t>
            </a: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Compare group performance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7493" y="7860506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Tests whether means differ across demographic segments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7585" y="1047159"/>
            <a:ext cx="1843088" cy="500805"/>
            <a:chOff x="0" y="0"/>
            <a:chExt cx="2457450" cy="667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7450" cy="667766"/>
            </a:xfrm>
            <a:custGeom>
              <a:avLst/>
              <a:gdLst/>
              <a:ahLst/>
              <a:cxnLst/>
              <a:rect r="r" b="b" t="t" l="l"/>
              <a:pathLst>
                <a:path h="667766" w="2457450">
                  <a:moveTo>
                    <a:pt x="0" y="121285"/>
                  </a:moveTo>
                  <a:cubicBezTo>
                    <a:pt x="0" y="54356"/>
                    <a:pt x="54356" y="0"/>
                    <a:pt x="121285" y="0"/>
                  </a:cubicBezTo>
                  <a:lnTo>
                    <a:pt x="2336165" y="0"/>
                  </a:lnTo>
                  <a:cubicBezTo>
                    <a:pt x="2403094" y="0"/>
                    <a:pt x="2457450" y="54356"/>
                    <a:pt x="2457450" y="121285"/>
                  </a:cubicBezTo>
                  <a:lnTo>
                    <a:pt x="2457450" y="546481"/>
                  </a:lnTo>
                  <a:cubicBezTo>
                    <a:pt x="2457450" y="613410"/>
                    <a:pt x="2403094" y="667766"/>
                    <a:pt x="2336165" y="667766"/>
                  </a:cubicBezTo>
                  <a:lnTo>
                    <a:pt x="121285" y="667766"/>
                  </a:lnTo>
                  <a:cubicBezTo>
                    <a:pt x="54356" y="667766"/>
                    <a:pt x="0" y="613410"/>
                    <a:pt x="0" y="546481"/>
                  </a:cubicBezTo>
                  <a:close/>
                </a:path>
              </a:pathLst>
            </a:custGeom>
            <a:solidFill>
              <a:srgbClr val="E8E6E3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09958" y="1189282"/>
            <a:ext cx="216541" cy="216541"/>
          </a:xfrm>
          <a:custGeom>
            <a:avLst/>
            <a:gdLst/>
            <a:ahLst/>
            <a:cxnLst/>
            <a:rect r="r" b="b" t="t" l="l"/>
            <a:pathLst>
              <a:path h="216541" w="216541">
                <a:moveTo>
                  <a:pt x="0" y="0"/>
                </a:moveTo>
                <a:lnTo>
                  <a:pt x="216541" y="0"/>
                </a:lnTo>
                <a:lnTo>
                  <a:pt x="216541" y="216541"/>
                </a:lnTo>
                <a:lnTo>
                  <a:pt x="0" y="216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4703" y="1071115"/>
            <a:ext cx="1193597" cy="39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SELECTION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585" y="1622669"/>
            <a:ext cx="10350551" cy="87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Final Model Selection Rationale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2823" y="2880274"/>
            <a:ext cx="5301405" cy="5068491"/>
            <a:chOff x="0" y="0"/>
            <a:chExt cx="7068541" cy="67579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7055866" cy="6745351"/>
            </a:xfrm>
            <a:custGeom>
              <a:avLst/>
              <a:gdLst/>
              <a:ahLst/>
              <a:cxnLst/>
              <a:rect r="r" b="b" t="t" l="l"/>
              <a:pathLst>
                <a:path h="6745351" w="7055866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904228" y="0"/>
                  </a:lnTo>
                  <a:cubicBezTo>
                    <a:pt x="6987922" y="0"/>
                    <a:pt x="7055866" y="67945"/>
                    <a:pt x="7055866" y="151638"/>
                  </a:cubicBezTo>
                  <a:lnTo>
                    <a:pt x="7055866" y="6593713"/>
                  </a:lnTo>
                  <a:cubicBezTo>
                    <a:pt x="7055866" y="6677406"/>
                    <a:pt x="6987922" y="6745351"/>
                    <a:pt x="6904228" y="6745351"/>
                  </a:cubicBezTo>
                  <a:lnTo>
                    <a:pt x="151638" y="6745351"/>
                  </a:lnTo>
                  <a:cubicBezTo>
                    <a:pt x="67945" y="6745351"/>
                    <a:pt x="0" y="6677406"/>
                    <a:pt x="0" y="6593713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8566" cy="6758051"/>
            </a:xfrm>
            <a:custGeom>
              <a:avLst/>
              <a:gdLst/>
              <a:ahLst/>
              <a:cxnLst/>
              <a:rect r="r" b="b" t="t" l="l"/>
              <a:pathLst>
                <a:path h="6758051" w="7068566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910578" y="0"/>
                  </a:lnTo>
                  <a:lnTo>
                    <a:pt x="6910578" y="6350"/>
                  </a:lnTo>
                  <a:lnTo>
                    <a:pt x="6910578" y="0"/>
                  </a:lnTo>
                  <a:cubicBezTo>
                    <a:pt x="6997827" y="0"/>
                    <a:pt x="7068566" y="70739"/>
                    <a:pt x="7068566" y="157988"/>
                  </a:cubicBezTo>
                  <a:lnTo>
                    <a:pt x="7062216" y="157988"/>
                  </a:lnTo>
                  <a:lnTo>
                    <a:pt x="7068566" y="157988"/>
                  </a:lnTo>
                  <a:lnTo>
                    <a:pt x="7068566" y="6600063"/>
                  </a:lnTo>
                  <a:lnTo>
                    <a:pt x="7062216" y="6600063"/>
                  </a:lnTo>
                  <a:lnTo>
                    <a:pt x="7068566" y="6600063"/>
                  </a:lnTo>
                  <a:cubicBezTo>
                    <a:pt x="7068566" y="6687312"/>
                    <a:pt x="6997827" y="6758051"/>
                    <a:pt x="6910578" y="6758051"/>
                  </a:cubicBezTo>
                  <a:lnTo>
                    <a:pt x="6910578" y="6751701"/>
                  </a:lnTo>
                  <a:lnTo>
                    <a:pt x="6910578" y="6758051"/>
                  </a:lnTo>
                  <a:lnTo>
                    <a:pt x="157988" y="6758051"/>
                  </a:lnTo>
                  <a:lnTo>
                    <a:pt x="157988" y="6751701"/>
                  </a:lnTo>
                  <a:lnTo>
                    <a:pt x="157988" y="6758051"/>
                  </a:lnTo>
                  <a:cubicBezTo>
                    <a:pt x="70739" y="6758051"/>
                    <a:pt x="0" y="6687312"/>
                    <a:pt x="0" y="660006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00063"/>
                  </a:lnTo>
                  <a:lnTo>
                    <a:pt x="6350" y="6600063"/>
                  </a:lnTo>
                  <a:lnTo>
                    <a:pt x="12700" y="6600063"/>
                  </a:lnTo>
                  <a:cubicBezTo>
                    <a:pt x="12700" y="6680327"/>
                    <a:pt x="77724" y="6745351"/>
                    <a:pt x="157988" y="6745351"/>
                  </a:cubicBezTo>
                  <a:lnTo>
                    <a:pt x="6910578" y="6745351"/>
                  </a:lnTo>
                  <a:cubicBezTo>
                    <a:pt x="6990842" y="6745351"/>
                    <a:pt x="7055866" y="6680327"/>
                    <a:pt x="7055866" y="6600063"/>
                  </a:cubicBezTo>
                  <a:lnTo>
                    <a:pt x="7055866" y="157988"/>
                  </a:lnTo>
                  <a:cubicBezTo>
                    <a:pt x="7055866" y="77724"/>
                    <a:pt x="6990842" y="12700"/>
                    <a:pt x="6910578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27830" y="3165272"/>
            <a:ext cx="812159" cy="812159"/>
            <a:chOff x="0" y="0"/>
            <a:chExt cx="1082878" cy="10828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2929" cy="1082929"/>
            </a:xfrm>
            <a:custGeom>
              <a:avLst/>
              <a:gdLst/>
              <a:ahLst/>
              <a:cxnLst/>
              <a:rect r="r" b="b" t="t" l="l"/>
              <a:pathLst>
                <a:path h="1082929" w="1082929">
                  <a:moveTo>
                    <a:pt x="0" y="541401"/>
                  </a:moveTo>
                  <a:cubicBezTo>
                    <a:pt x="0" y="242443"/>
                    <a:pt x="242443" y="0"/>
                    <a:pt x="541401" y="0"/>
                  </a:cubicBezTo>
                  <a:cubicBezTo>
                    <a:pt x="840359" y="0"/>
                    <a:pt x="1082929" y="242443"/>
                    <a:pt x="1082929" y="541401"/>
                  </a:cubicBezTo>
                  <a:cubicBezTo>
                    <a:pt x="1082929" y="840359"/>
                    <a:pt x="840486" y="1082929"/>
                    <a:pt x="541401" y="1082929"/>
                  </a:cubicBezTo>
                  <a:cubicBezTo>
                    <a:pt x="242316" y="1082929"/>
                    <a:pt x="0" y="840486"/>
                    <a:pt x="0" y="541401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1451219" y="3388671"/>
            <a:ext cx="365369" cy="365369"/>
          </a:xfrm>
          <a:custGeom>
            <a:avLst/>
            <a:gdLst/>
            <a:ahLst/>
            <a:cxnLst/>
            <a:rect r="r" b="b" t="t" l="l"/>
            <a:pathLst>
              <a:path h="365369" w="365369">
                <a:moveTo>
                  <a:pt x="0" y="0"/>
                </a:moveTo>
                <a:lnTo>
                  <a:pt x="365370" y="0"/>
                </a:lnTo>
                <a:lnTo>
                  <a:pt x="365370" y="365370"/>
                </a:lnTo>
                <a:lnTo>
                  <a:pt x="0" y="365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27830" y="4216898"/>
            <a:ext cx="3384347" cy="44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Linear Regression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7830" y="4737792"/>
            <a:ext cx="4731391" cy="49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Target: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Overall performance 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7830" y="5316141"/>
            <a:ext cx="4731391" cy="92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Numeric outcome reveals precise impact of each predictor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7830" y="6317752"/>
            <a:ext cx="4731391" cy="134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Delivers: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Coefficient values showing score changes per unit increase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93221" y="2880274"/>
            <a:ext cx="5301405" cy="5068491"/>
            <a:chOff x="0" y="0"/>
            <a:chExt cx="7068541" cy="67579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7055866" cy="6745351"/>
            </a:xfrm>
            <a:custGeom>
              <a:avLst/>
              <a:gdLst/>
              <a:ahLst/>
              <a:cxnLst/>
              <a:rect r="r" b="b" t="t" l="l"/>
              <a:pathLst>
                <a:path h="6745351" w="7055866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904228" y="0"/>
                  </a:lnTo>
                  <a:cubicBezTo>
                    <a:pt x="6987922" y="0"/>
                    <a:pt x="7055866" y="67945"/>
                    <a:pt x="7055866" y="151638"/>
                  </a:cubicBezTo>
                  <a:lnTo>
                    <a:pt x="7055866" y="6593713"/>
                  </a:lnTo>
                  <a:cubicBezTo>
                    <a:pt x="7055866" y="6677406"/>
                    <a:pt x="6987922" y="6745351"/>
                    <a:pt x="6904228" y="6745351"/>
                  </a:cubicBezTo>
                  <a:lnTo>
                    <a:pt x="151638" y="6745351"/>
                  </a:lnTo>
                  <a:cubicBezTo>
                    <a:pt x="67945" y="6745351"/>
                    <a:pt x="0" y="6677406"/>
                    <a:pt x="0" y="6593713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8566" cy="6758051"/>
            </a:xfrm>
            <a:custGeom>
              <a:avLst/>
              <a:gdLst/>
              <a:ahLst/>
              <a:cxnLst/>
              <a:rect r="r" b="b" t="t" l="l"/>
              <a:pathLst>
                <a:path h="6758051" w="7068566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910578" y="0"/>
                  </a:lnTo>
                  <a:lnTo>
                    <a:pt x="6910578" y="6350"/>
                  </a:lnTo>
                  <a:lnTo>
                    <a:pt x="6910578" y="0"/>
                  </a:lnTo>
                  <a:cubicBezTo>
                    <a:pt x="6997827" y="0"/>
                    <a:pt x="7068566" y="70739"/>
                    <a:pt x="7068566" y="157988"/>
                  </a:cubicBezTo>
                  <a:lnTo>
                    <a:pt x="7062216" y="157988"/>
                  </a:lnTo>
                  <a:lnTo>
                    <a:pt x="7068566" y="157988"/>
                  </a:lnTo>
                  <a:lnTo>
                    <a:pt x="7068566" y="6600063"/>
                  </a:lnTo>
                  <a:lnTo>
                    <a:pt x="7062216" y="6600063"/>
                  </a:lnTo>
                  <a:lnTo>
                    <a:pt x="7068566" y="6600063"/>
                  </a:lnTo>
                  <a:cubicBezTo>
                    <a:pt x="7068566" y="6687312"/>
                    <a:pt x="6997827" y="6758051"/>
                    <a:pt x="6910578" y="6758051"/>
                  </a:cubicBezTo>
                  <a:lnTo>
                    <a:pt x="6910578" y="6751701"/>
                  </a:lnTo>
                  <a:lnTo>
                    <a:pt x="6910578" y="6758051"/>
                  </a:lnTo>
                  <a:lnTo>
                    <a:pt x="157988" y="6758051"/>
                  </a:lnTo>
                  <a:lnTo>
                    <a:pt x="157988" y="6751701"/>
                  </a:lnTo>
                  <a:lnTo>
                    <a:pt x="157988" y="6758051"/>
                  </a:lnTo>
                  <a:cubicBezTo>
                    <a:pt x="70739" y="6758051"/>
                    <a:pt x="0" y="6687312"/>
                    <a:pt x="0" y="660006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00063"/>
                  </a:lnTo>
                  <a:lnTo>
                    <a:pt x="6350" y="6600063"/>
                  </a:lnTo>
                  <a:lnTo>
                    <a:pt x="12700" y="6600063"/>
                  </a:lnTo>
                  <a:cubicBezTo>
                    <a:pt x="12700" y="6680327"/>
                    <a:pt x="77724" y="6745351"/>
                    <a:pt x="157988" y="6745351"/>
                  </a:cubicBezTo>
                  <a:lnTo>
                    <a:pt x="6910578" y="6745351"/>
                  </a:lnTo>
                  <a:cubicBezTo>
                    <a:pt x="6990842" y="6745351"/>
                    <a:pt x="7055866" y="6680327"/>
                    <a:pt x="7055866" y="6600063"/>
                  </a:cubicBezTo>
                  <a:lnTo>
                    <a:pt x="7055866" y="157988"/>
                  </a:lnTo>
                  <a:cubicBezTo>
                    <a:pt x="7055866" y="77724"/>
                    <a:pt x="6990842" y="12700"/>
                    <a:pt x="6910578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78228" y="3165272"/>
            <a:ext cx="812159" cy="812159"/>
            <a:chOff x="0" y="0"/>
            <a:chExt cx="1082878" cy="10828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2929" cy="1082929"/>
            </a:xfrm>
            <a:custGeom>
              <a:avLst/>
              <a:gdLst/>
              <a:ahLst/>
              <a:cxnLst/>
              <a:rect r="r" b="b" t="t" l="l"/>
              <a:pathLst>
                <a:path h="1082929" w="1082929">
                  <a:moveTo>
                    <a:pt x="0" y="541401"/>
                  </a:moveTo>
                  <a:cubicBezTo>
                    <a:pt x="0" y="242443"/>
                    <a:pt x="242443" y="0"/>
                    <a:pt x="541401" y="0"/>
                  </a:cubicBezTo>
                  <a:cubicBezTo>
                    <a:pt x="840359" y="0"/>
                    <a:pt x="1082929" y="242443"/>
                    <a:pt x="1082929" y="541401"/>
                  </a:cubicBezTo>
                  <a:cubicBezTo>
                    <a:pt x="1082929" y="840359"/>
                    <a:pt x="840486" y="1082929"/>
                    <a:pt x="541401" y="1082929"/>
                  </a:cubicBezTo>
                  <a:cubicBezTo>
                    <a:pt x="242316" y="1082929"/>
                    <a:pt x="0" y="840486"/>
                    <a:pt x="0" y="541401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7001618" y="3388671"/>
            <a:ext cx="365369" cy="365369"/>
          </a:xfrm>
          <a:custGeom>
            <a:avLst/>
            <a:gdLst/>
            <a:ahLst/>
            <a:cxnLst/>
            <a:rect r="r" b="b" t="t" l="l"/>
            <a:pathLst>
              <a:path h="365369" w="365369">
                <a:moveTo>
                  <a:pt x="0" y="0"/>
                </a:moveTo>
                <a:lnTo>
                  <a:pt x="365369" y="0"/>
                </a:lnTo>
                <a:lnTo>
                  <a:pt x="365369" y="365370"/>
                </a:lnTo>
                <a:lnTo>
                  <a:pt x="0" y="365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127" t="0" r="-513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778228" y="4216898"/>
            <a:ext cx="3384347" cy="44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Logistic Regression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78228" y="4737792"/>
            <a:ext cx="4731391" cy="49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Target: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Grade category (A/B/C/D/F)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78228" y="5316141"/>
            <a:ext cx="4731391" cy="92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Categorical outcome enables success/failure analysis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78228" y="6317752"/>
            <a:ext cx="4731391" cy="92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Delivers: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Probability estimates for each grade tier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43620" y="2880274"/>
            <a:ext cx="5301405" cy="5068491"/>
            <a:chOff x="0" y="0"/>
            <a:chExt cx="7068541" cy="67579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7055866" cy="6745351"/>
            </a:xfrm>
            <a:custGeom>
              <a:avLst/>
              <a:gdLst/>
              <a:ahLst/>
              <a:cxnLst/>
              <a:rect r="r" b="b" t="t" l="l"/>
              <a:pathLst>
                <a:path h="6745351" w="7055866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904228" y="0"/>
                  </a:lnTo>
                  <a:cubicBezTo>
                    <a:pt x="6987922" y="0"/>
                    <a:pt x="7055866" y="67945"/>
                    <a:pt x="7055866" y="151638"/>
                  </a:cubicBezTo>
                  <a:lnTo>
                    <a:pt x="7055866" y="6593713"/>
                  </a:lnTo>
                  <a:cubicBezTo>
                    <a:pt x="7055866" y="6677406"/>
                    <a:pt x="6987922" y="6745351"/>
                    <a:pt x="6904228" y="6745351"/>
                  </a:cubicBezTo>
                  <a:lnTo>
                    <a:pt x="151638" y="6745351"/>
                  </a:lnTo>
                  <a:cubicBezTo>
                    <a:pt x="67945" y="6745351"/>
                    <a:pt x="0" y="6677406"/>
                    <a:pt x="0" y="6593713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68566" cy="6758051"/>
            </a:xfrm>
            <a:custGeom>
              <a:avLst/>
              <a:gdLst/>
              <a:ahLst/>
              <a:cxnLst/>
              <a:rect r="r" b="b" t="t" l="l"/>
              <a:pathLst>
                <a:path h="6758051" w="7068566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910578" y="0"/>
                  </a:lnTo>
                  <a:lnTo>
                    <a:pt x="6910578" y="6350"/>
                  </a:lnTo>
                  <a:lnTo>
                    <a:pt x="6910578" y="0"/>
                  </a:lnTo>
                  <a:cubicBezTo>
                    <a:pt x="6997827" y="0"/>
                    <a:pt x="7068566" y="70739"/>
                    <a:pt x="7068566" y="157988"/>
                  </a:cubicBezTo>
                  <a:lnTo>
                    <a:pt x="7062216" y="157988"/>
                  </a:lnTo>
                  <a:lnTo>
                    <a:pt x="7068566" y="157988"/>
                  </a:lnTo>
                  <a:lnTo>
                    <a:pt x="7068566" y="6600063"/>
                  </a:lnTo>
                  <a:lnTo>
                    <a:pt x="7062216" y="6600063"/>
                  </a:lnTo>
                  <a:lnTo>
                    <a:pt x="7068566" y="6600063"/>
                  </a:lnTo>
                  <a:cubicBezTo>
                    <a:pt x="7068566" y="6687312"/>
                    <a:pt x="6997827" y="6758051"/>
                    <a:pt x="6910578" y="6758051"/>
                  </a:cubicBezTo>
                  <a:lnTo>
                    <a:pt x="6910578" y="6751701"/>
                  </a:lnTo>
                  <a:lnTo>
                    <a:pt x="6910578" y="6758051"/>
                  </a:lnTo>
                  <a:lnTo>
                    <a:pt x="157988" y="6758051"/>
                  </a:lnTo>
                  <a:lnTo>
                    <a:pt x="157988" y="6751701"/>
                  </a:lnTo>
                  <a:lnTo>
                    <a:pt x="157988" y="6758051"/>
                  </a:lnTo>
                  <a:cubicBezTo>
                    <a:pt x="70739" y="6758051"/>
                    <a:pt x="0" y="6687312"/>
                    <a:pt x="0" y="660006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00063"/>
                  </a:lnTo>
                  <a:lnTo>
                    <a:pt x="6350" y="6600063"/>
                  </a:lnTo>
                  <a:lnTo>
                    <a:pt x="12700" y="6600063"/>
                  </a:lnTo>
                  <a:cubicBezTo>
                    <a:pt x="12700" y="6680327"/>
                    <a:pt x="77724" y="6745351"/>
                    <a:pt x="157988" y="6745351"/>
                  </a:cubicBezTo>
                  <a:lnTo>
                    <a:pt x="6910578" y="6745351"/>
                  </a:lnTo>
                  <a:cubicBezTo>
                    <a:pt x="6990842" y="6745351"/>
                    <a:pt x="7055866" y="6680327"/>
                    <a:pt x="7055866" y="6600063"/>
                  </a:cubicBezTo>
                  <a:lnTo>
                    <a:pt x="7055866" y="157988"/>
                  </a:lnTo>
                  <a:cubicBezTo>
                    <a:pt x="7055866" y="77724"/>
                    <a:pt x="6990842" y="12700"/>
                    <a:pt x="6910578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28627" y="3165272"/>
            <a:ext cx="812159" cy="812159"/>
            <a:chOff x="0" y="0"/>
            <a:chExt cx="1082878" cy="10828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2929" cy="1082929"/>
            </a:xfrm>
            <a:custGeom>
              <a:avLst/>
              <a:gdLst/>
              <a:ahLst/>
              <a:cxnLst/>
              <a:rect r="r" b="b" t="t" l="l"/>
              <a:pathLst>
                <a:path h="1082929" w="1082929">
                  <a:moveTo>
                    <a:pt x="0" y="541401"/>
                  </a:moveTo>
                  <a:cubicBezTo>
                    <a:pt x="0" y="242443"/>
                    <a:pt x="242443" y="0"/>
                    <a:pt x="541401" y="0"/>
                  </a:cubicBezTo>
                  <a:cubicBezTo>
                    <a:pt x="840359" y="0"/>
                    <a:pt x="1082929" y="242443"/>
                    <a:pt x="1082929" y="541401"/>
                  </a:cubicBezTo>
                  <a:cubicBezTo>
                    <a:pt x="1082929" y="840359"/>
                    <a:pt x="840486" y="1082929"/>
                    <a:pt x="541401" y="1082929"/>
                  </a:cubicBezTo>
                  <a:cubicBezTo>
                    <a:pt x="242316" y="1082929"/>
                    <a:pt x="0" y="840486"/>
                    <a:pt x="0" y="541401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2552016" y="3388671"/>
            <a:ext cx="365369" cy="365369"/>
          </a:xfrm>
          <a:custGeom>
            <a:avLst/>
            <a:gdLst/>
            <a:ahLst/>
            <a:cxnLst/>
            <a:rect r="r" b="b" t="t" l="l"/>
            <a:pathLst>
              <a:path h="365369" w="365369">
                <a:moveTo>
                  <a:pt x="0" y="0"/>
                </a:moveTo>
                <a:lnTo>
                  <a:pt x="365370" y="0"/>
                </a:lnTo>
                <a:lnTo>
                  <a:pt x="365370" y="365370"/>
                </a:lnTo>
                <a:lnTo>
                  <a:pt x="0" y="3653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693" r="0" b="-7693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328627" y="4216898"/>
            <a:ext cx="3384347" cy="44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ANOVA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28627" y="4737792"/>
            <a:ext cx="4731391" cy="49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Target: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Group comparisons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28627" y="5316141"/>
            <a:ext cx="4731391" cy="134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Tests whether parental education or school type creates differences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28627" y="6741023"/>
            <a:ext cx="4731391" cy="92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Delivers: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Statistical significance of group effects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3588" y="8449418"/>
            <a:ext cx="15986817" cy="49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These complementary models provide both prediction and </a:t>
            </a:r>
            <a:r>
              <a:rPr lang="en-US" sz="2125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explanation</a:t>
            </a:r>
            <a:r>
              <a:rPr lang="en-US" sz="2125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47585" y="8234810"/>
            <a:ext cx="38100" cy="1004888"/>
            <a:chOff x="0" y="0"/>
            <a:chExt cx="50800" cy="13398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00" cy="1339850"/>
            </a:xfrm>
            <a:custGeom>
              <a:avLst/>
              <a:gdLst/>
              <a:ahLst/>
              <a:cxnLst/>
              <a:rect r="r" b="b" t="t" l="l"/>
              <a:pathLst>
                <a:path h="1339850" w="50800">
                  <a:moveTo>
                    <a:pt x="0" y="0"/>
                  </a:moveTo>
                  <a:lnTo>
                    <a:pt x="50800" y="0"/>
                  </a:lnTo>
                  <a:lnTo>
                    <a:pt x="50800" y="1339850"/>
                  </a:lnTo>
                  <a:lnTo>
                    <a:pt x="0" y="1339850"/>
                  </a:lnTo>
                  <a:close/>
                </a:path>
              </a:pathLst>
            </a:custGeom>
            <a:solidFill>
              <a:srgbClr val="9C9283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62508"/>
            <a:ext cx="8710165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Feature Selection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71415"/>
            <a:ext cx="4668736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Selection Methodology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4442517"/>
            <a:ext cx="647405" cy="647405"/>
            <a:chOff x="0" y="0"/>
            <a:chExt cx="863206" cy="8632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98575" y="4557560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3630" y="453509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Correlation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3630" y="5071910"/>
            <a:ext cx="705311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Examined relationships identified during EDA phase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16345" y="4442517"/>
            <a:ext cx="647405" cy="647405"/>
            <a:chOff x="0" y="0"/>
            <a:chExt cx="863206" cy="8632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27445" y="4557560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2499" y="4535091"/>
            <a:ext cx="456694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Visual Pattern Recognition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2499" y="5071910"/>
            <a:ext cx="705326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Reviewed scatterplots and distribution charts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476" y="6627171"/>
            <a:ext cx="647405" cy="647405"/>
            <a:chOff x="0" y="0"/>
            <a:chExt cx="863206" cy="8632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98575" y="6742214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13630" y="671973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Domain Knowledge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3630" y="7256564"/>
            <a:ext cx="705311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Applied educational psychology principles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16345" y="6627171"/>
            <a:ext cx="647405" cy="647405"/>
            <a:chOff x="0" y="0"/>
            <a:chExt cx="863206" cy="8632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427445" y="6742214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42499" y="671973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Relevance Filtering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2499" y="7256564"/>
            <a:ext cx="705326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Prioritised variables with theoretical grounding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58653"/>
            <a:ext cx="481459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Selected Key Predictors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90630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These variables demonstrated strong empirical relationships with academic outcomes.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444891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5314" y="443939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Study Hours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444891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84184" y="443939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Attendance %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238" y="572467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7999" t="0" r="-1800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55314" y="571515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Parental Education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21108" y="572467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999" r="0" b="-400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384184" y="571515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Subject Marks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700042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3333" t="0" r="-1333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55314" y="699090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Internet Access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321108" y="700042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7332" r="0" b="-733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84184" y="699090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Extracurriculars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0853" y="933602"/>
            <a:ext cx="1330966" cy="375495"/>
            <a:chOff x="0" y="0"/>
            <a:chExt cx="1774622" cy="5006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4571" cy="500761"/>
            </a:xfrm>
            <a:custGeom>
              <a:avLst/>
              <a:gdLst/>
              <a:ahLst/>
              <a:cxnLst/>
              <a:rect r="r" b="b" t="t" l="l"/>
              <a:pathLst>
                <a:path h="500761" w="1774571">
                  <a:moveTo>
                    <a:pt x="0" y="97790"/>
                  </a:moveTo>
                  <a:cubicBezTo>
                    <a:pt x="0" y="43688"/>
                    <a:pt x="44577" y="0"/>
                    <a:pt x="99441" y="0"/>
                  </a:cubicBezTo>
                  <a:lnTo>
                    <a:pt x="1675130" y="0"/>
                  </a:lnTo>
                  <a:lnTo>
                    <a:pt x="1675130" y="6350"/>
                  </a:lnTo>
                  <a:lnTo>
                    <a:pt x="1675130" y="0"/>
                  </a:lnTo>
                  <a:cubicBezTo>
                    <a:pt x="1729994" y="0"/>
                    <a:pt x="1774571" y="43688"/>
                    <a:pt x="1774571" y="97790"/>
                  </a:cubicBezTo>
                  <a:lnTo>
                    <a:pt x="1768221" y="97790"/>
                  </a:lnTo>
                  <a:lnTo>
                    <a:pt x="1774571" y="97790"/>
                  </a:lnTo>
                  <a:lnTo>
                    <a:pt x="1774571" y="402971"/>
                  </a:lnTo>
                  <a:lnTo>
                    <a:pt x="1768221" y="402971"/>
                  </a:lnTo>
                  <a:lnTo>
                    <a:pt x="1774571" y="402971"/>
                  </a:lnTo>
                  <a:cubicBezTo>
                    <a:pt x="1774571" y="457073"/>
                    <a:pt x="1729994" y="500761"/>
                    <a:pt x="1675130" y="500761"/>
                  </a:cubicBezTo>
                  <a:lnTo>
                    <a:pt x="1675130" y="494411"/>
                  </a:lnTo>
                  <a:lnTo>
                    <a:pt x="1675130" y="500761"/>
                  </a:lnTo>
                  <a:lnTo>
                    <a:pt x="99441" y="500761"/>
                  </a:lnTo>
                  <a:lnTo>
                    <a:pt x="99441" y="494411"/>
                  </a:lnTo>
                  <a:lnTo>
                    <a:pt x="99441" y="500761"/>
                  </a:lnTo>
                  <a:cubicBezTo>
                    <a:pt x="44577" y="500634"/>
                    <a:pt x="0" y="456946"/>
                    <a:pt x="0" y="402971"/>
                  </a:cubicBezTo>
                  <a:lnTo>
                    <a:pt x="0" y="97790"/>
                  </a:lnTo>
                  <a:lnTo>
                    <a:pt x="6350" y="97790"/>
                  </a:lnTo>
                  <a:lnTo>
                    <a:pt x="0" y="97790"/>
                  </a:lnTo>
                  <a:moveTo>
                    <a:pt x="12700" y="97790"/>
                  </a:moveTo>
                  <a:lnTo>
                    <a:pt x="12700" y="402971"/>
                  </a:lnTo>
                  <a:lnTo>
                    <a:pt x="6350" y="402971"/>
                  </a:lnTo>
                  <a:lnTo>
                    <a:pt x="12700" y="402971"/>
                  </a:lnTo>
                  <a:cubicBezTo>
                    <a:pt x="12700" y="449834"/>
                    <a:pt x="51435" y="488061"/>
                    <a:pt x="99441" y="488061"/>
                  </a:cubicBezTo>
                  <a:lnTo>
                    <a:pt x="1675130" y="488061"/>
                  </a:lnTo>
                  <a:cubicBezTo>
                    <a:pt x="1723136" y="488061"/>
                    <a:pt x="1761871" y="449834"/>
                    <a:pt x="1761871" y="402971"/>
                  </a:cubicBezTo>
                  <a:lnTo>
                    <a:pt x="1761871" y="97790"/>
                  </a:lnTo>
                  <a:cubicBezTo>
                    <a:pt x="1761871" y="50927"/>
                    <a:pt x="1723136" y="12700"/>
                    <a:pt x="1675130" y="12700"/>
                  </a:cubicBezTo>
                  <a:lnTo>
                    <a:pt x="99441" y="12700"/>
                  </a:lnTo>
                  <a:lnTo>
                    <a:pt x="99441" y="6350"/>
                  </a:lnTo>
                  <a:lnTo>
                    <a:pt x="99441" y="12700"/>
                  </a:lnTo>
                  <a:cubicBezTo>
                    <a:pt x="51435" y="12700"/>
                    <a:pt x="12700" y="50927"/>
                    <a:pt x="12700" y="97790"/>
                  </a:cubicBezTo>
                  <a:close/>
                </a:path>
              </a:pathLst>
            </a:custGeom>
            <a:solidFill>
              <a:srgbClr val="9C928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37480" y="980484"/>
            <a:ext cx="1057723" cy="25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49">
                <a:solidFill>
                  <a:srgbClr val="9C9283"/>
                </a:solidFill>
                <a:latin typeface="Noto Serif"/>
                <a:ea typeface="Noto Serif"/>
                <a:cs typeface="Noto Serif"/>
                <a:sym typeface="Noto Serif"/>
              </a:rPr>
              <a:t>HYPOTHESES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5616" y="1334395"/>
            <a:ext cx="7856934" cy="66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Research Questions Framework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5616" y="2191941"/>
            <a:ext cx="14076607" cy="30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We developed testable hypotheses to systematically examine how different factors influence student performance.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29560" y="2666105"/>
            <a:ext cx="28575" cy="5805335"/>
            <a:chOff x="0" y="0"/>
            <a:chExt cx="38100" cy="7740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" cy="7740396"/>
            </a:xfrm>
            <a:custGeom>
              <a:avLst/>
              <a:gdLst/>
              <a:ahLst/>
              <a:cxnLst/>
              <a:rect r="r" b="b" t="t" l="l"/>
              <a:pathLst>
                <a:path h="774039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21346"/>
                  </a:lnTo>
                  <a:cubicBezTo>
                    <a:pt x="38100" y="7731887"/>
                    <a:pt x="29591" y="7740396"/>
                    <a:pt x="19050" y="7740396"/>
                  </a:cubicBezTo>
                  <a:cubicBezTo>
                    <a:pt x="8509" y="7740396"/>
                    <a:pt x="0" y="7731887"/>
                    <a:pt x="0" y="7721346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330956" y="2881312"/>
            <a:ext cx="611981" cy="28575"/>
            <a:chOff x="0" y="0"/>
            <a:chExt cx="815975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5975" cy="38100"/>
            </a:xfrm>
            <a:custGeom>
              <a:avLst/>
              <a:gdLst/>
              <a:ahLst/>
              <a:cxnLst/>
              <a:rect r="r" b="b" t="t" l="l"/>
              <a:pathLst>
                <a:path h="38100" w="81597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6925" y="0"/>
                  </a:lnTo>
                  <a:cubicBezTo>
                    <a:pt x="807466" y="0"/>
                    <a:pt x="815975" y="8509"/>
                    <a:pt x="815975" y="19050"/>
                  </a:cubicBezTo>
                  <a:cubicBezTo>
                    <a:pt x="815975" y="29591"/>
                    <a:pt x="807466" y="38100"/>
                    <a:pt x="7969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09599" y="2661342"/>
            <a:ext cx="468516" cy="468516"/>
            <a:chOff x="0" y="0"/>
            <a:chExt cx="624688" cy="624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12140" cy="612140"/>
            </a:xfrm>
            <a:custGeom>
              <a:avLst/>
              <a:gdLst/>
              <a:ahLst/>
              <a:cxnLst/>
              <a:rect r="r" b="b" t="t" l="l"/>
              <a:pathLst>
                <a:path h="612140" w="61214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97840" y="0"/>
                  </a:lnTo>
                  <a:cubicBezTo>
                    <a:pt x="560959" y="0"/>
                    <a:pt x="612140" y="51181"/>
                    <a:pt x="612140" y="114300"/>
                  </a:cubicBezTo>
                  <a:lnTo>
                    <a:pt x="612140" y="497840"/>
                  </a:lnTo>
                  <a:cubicBezTo>
                    <a:pt x="612140" y="560959"/>
                    <a:pt x="560959" y="612140"/>
                    <a:pt x="497840" y="612140"/>
                  </a:cubicBezTo>
                  <a:lnTo>
                    <a:pt x="114300" y="612140"/>
                  </a:lnTo>
                  <a:cubicBezTo>
                    <a:pt x="51181" y="612140"/>
                    <a:pt x="0" y="560959"/>
                    <a:pt x="0" y="497840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4840" cy="624840"/>
            </a:xfrm>
            <a:custGeom>
              <a:avLst/>
              <a:gdLst/>
              <a:ahLst/>
              <a:cxnLst/>
              <a:rect r="r" b="b" t="t" l="l"/>
              <a:pathLst>
                <a:path h="624840" w="62484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04190" y="0"/>
                  </a:lnTo>
                  <a:lnTo>
                    <a:pt x="504190" y="6350"/>
                  </a:lnTo>
                  <a:lnTo>
                    <a:pt x="504190" y="0"/>
                  </a:lnTo>
                  <a:cubicBezTo>
                    <a:pt x="570738" y="0"/>
                    <a:pt x="624840" y="53975"/>
                    <a:pt x="624840" y="120650"/>
                  </a:cubicBezTo>
                  <a:lnTo>
                    <a:pt x="618490" y="120650"/>
                  </a:lnTo>
                  <a:lnTo>
                    <a:pt x="624840" y="120650"/>
                  </a:lnTo>
                  <a:lnTo>
                    <a:pt x="624840" y="504190"/>
                  </a:lnTo>
                  <a:lnTo>
                    <a:pt x="618490" y="504190"/>
                  </a:lnTo>
                  <a:lnTo>
                    <a:pt x="624840" y="504190"/>
                  </a:lnTo>
                  <a:cubicBezTo>
                    <a:pt x="624840" y="570738"/>
                    <a:pt x="570865" y="624840"/>
                    <a:pt x="504190" y="624840"/>
                  </a:cubicBezTo>
                  <a:lnTo>
                    <a:pt x="504190" y="618490"/>
                  </a:lnTo>
                  <a:lnTo>
                    <a:pt x="504190" y="624840"/>
                  </a:lnTo>
                  <a:lnTo>
                    <a:pt x="120650" y="624840"/>
                  </a:lnTo>
                  <a:lnTo>
                    <a:pt x="120650" y="618490"/>
                  </a:lnTo>
                  <a:lnTo>
                    <a:pt x="120650" y="624840"/>
                  </a:lnTo>
                  <a:cubicBezTo>
                    <a:pt x="54102" y="624840"/>
                    <a:pt x="0" y="570865"/>
                    <a:pt x="0" y="504190"/>
                  </a:cubicBezTo>
                  <a:lnTo>
                    <a:pt x="0" y="120650"/>
                  </a:lnTo>
                  <a:lnTo>
                    <a:pt x="6350" y="120650"/>
                  </a:lnTo>
                  <a:lnTo>
                    <a:pt x="0" y="120650"/>
                  </a:lnTo>
                  <a:moveTo>
                    <a:pt x="12700" y="120650"/>
                  </a:moveTo>
                  <a:lnTo>
                    <a:pt x="12700" y="504190"/>
                  </a:lnTo>
                  <a:lnTo>
                    <a:pt x="6350" y="504190"/>
                  </a:lnTo>
                  <a:lnTo>
                    <a:pt x="12700" y="504190"/>
                  </a:lnTo>
                  <a:cubicBezTo>
                    <a:pt x="12700" y="563753"/>
                    <a:pt x="60960" y="612140"/>
                    <a:pt x="120650" y="612140"/>
                  </a:cubicBezTo>
                  <a:lnTo>
                    <a:pt x="504190" y="612140"/>
                  </a:lnTo>
                  <a:cubicBezTo>
                    <a:pt x="563753" y="612140"/>
                    <a:pt x="612140" y="563880"/>
                    <a:pt x="612140" y="504190"/>
                  </a:cubicBezTo>
                  <a:lnTo>
                    <a:pt x="612140" y="120650"/>
                  </a:lnTo>
                  <a:cubicBezTo>
                    <a:pt x="612140" y="61087"/>
                    <a:pt x="563880" y="12700"/>
                    <a:pt x="504190" y="12700"/>
                  </a:cubicBezTo>
                  <a:lnTo>
                    <a:pt x="120650" y="12700"/>
                  </a:lnTo>
                  <a:lnTo>
                    <a:pt x="120650" y="6350"/>
                  </a:lnTo>
                  <a:lnTo>
                    <a:pt x="120650" y="12700"/>
                  </a:lnTo>
                  <a:cubicBezTo>
                    <a:pt x="60960" y="12700"/>
                    <a:pt x="12700" y="60960"/>
                    <a:pt x="12700" y="1206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990857" y="2751982"/>
            <a:ext cx="305991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68233" y="2717159"/>
            <a:ext cx="2755697" cy="33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0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H₁: Study Hours Effect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5616" y="3114227"/>
            <a:ext cx="6018314" cy="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56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Students who dedicate more hours to study achieve significantly higher scores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44768" y="3990823"/>
            <a:ext cx="611981" cy="28575"/>
            <a:chOff x="0" y="0"/>
            <a:chExt cx="815975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5975" cy="38100"/>
            </a:xfrm>
            <a:custGeom>
              <a:avLst/>
              <a:gdLst/>
              <a:ahLst/>
              <a:cxnLst/>
              <a:rect r="r" b="b" t="t" l="l"/>
              <a:pathLst>
                <a:path h="38100" w="81597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6925" y="0"/>
                  </a:lnTo>
                  <a:cubicBezTo>
                    <a:pt x="807466" y="0"/>
                    <a:pt x="815975" y="8509"/>
                    <a:pt x="815975" y="19050"/>
                  </a:cubicBezTo>
                  <a:cubicBezTo>
                    <a:pt x="815975" y="29591"/>
                    <a:pt x="807466" y="38100"/>
                    <a:pt x="7969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09599" y="3770862"/>
            <a:ext cx="468516" cy="468516"/>
            <a:chOff x="0" y="0"/>
            <a:chExt cx="624688" cy="624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12140" cy="612140"/>
            </a:xfrm>
            <a:custGeom>
              <a:avLst/>
              <a:gdLst/>
              <a:ahLst/>
              <a:cxnLst/>
              <a:rect r="r" b="b" t="t" l="l"/>
              <a:pathLst>
                <a:path h="612140" w="61214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97840" y="0"/>
                  </a:lnTo>
                  <a:cubicBezTo>
                    <a:pt x="560959" y="0"/>
                    <a:pt x="612140" y="51181"/>
                    <a:pt x="612140" y="114300"/>
                  </a:cubicBezTo>
                  <a:lnTo>
                    <a:pt x="612140" y="497840"/>
                  </a:lnTo>
                  <a:cubicBezTo>
                    <a:pt x="612140" y="560959"/>
                    <a:pt x="560959" y="612140"/>
                    <a:pt x="497840" y="612140"/>
                  </a:cubicBezTo>
                  <a:lnTo>
                    <a:pt x="114300" y="612140"/>
                  </a:lnTo>
                  <a:cubicBezTo>
                    <a:pt x="51181" y="612140"/>
                    <a:pt x="0" y="560959"/>
                    <a:pt x="0" y="497840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4840" cy="624840"/>
            </a:xfrm>
            <a:custGeom>
              <a:avLst/>
              <a:gdLst/>
              <a:ahLst/>
              <a:cxnLst/>
              <a:rect r="r" b="b" t="t" l="l"/>
              <a:pathLst>
                <a:path h="624840" w="62484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04190" y="0"/>
                  </a:lnTo>
                  <a:lnTo>
                    <a:pt x="504190" y="6350"/>
                  </a:lnTo>
                  <a:lnTo>
                    <a:pt x="504190" y="0"/>
                  </a:lnTo>
                  <a:cubicBezTo>
                    <a:pt x="570738" y="0"/>
                    <a:pt x="624840" y="53975"/>
                    <a:pt x="624840" y="120650"/>
                  </a:cubicBezTo>
                  <a:lnTo>
                    <a:pt x="618490" y="120650"/>
                  </a:lnTo>
                  <a:lnTo>
                    <a:pt x="624840" y="120650"/>
                  </a:lnTo>
                  <a:lnTo>
                    <a:pt x="624840" y="504190"/>
                  </a:lnTo>
                  <a:lnTo>
                    <a:pt x="618490" y="504190"/>
                  </a:lnTo>
                  <a:lnTo>
                    <a:pt x="624840" y="504190"/>
                  </a:lnTo>
                  <a:cubicBezTo>
                    <a:pt x="624840" y="570738"/>
                    <a:pt x="570865" y="624840"/>
                    <a:pt x="504190" y="624840"/>
                  </a:cubicBezTo>
                  <a:lnTo>
                    <a:pt x="504190" y="618490"/>
                  </a:lnTo>
                  <a:lnTo>
                    <a:pt x="504190" y="624840"/>
                  </a:lnTo>
                  <a:lnTo>
                    <a:pt x="120650" y="624840"/>
                  </a:lnTo>
                  <a:lnTo>
                    <a:pt x="120650" y="618490"/>
                  </a:lnTo>
                  <a:lnTo>
                    <a:pt x="120650" y="624840"/>
                  </a:lnTo>
                  <a:cubicBezTo>
                    <a:pt x="54102" y="624840"/>
                    <a:pt x="0" y="570865"/>
                    <a:pt x="0" y="504190"/>
                  </a:cubicBezTo>
                  <a:lnTo>
                    <a:pt x="0" y="120650"/>
                  </a:lnTo>
                  <a:lnTo>
                    <a:pt x="6350" y="120650"/>
                  </a:lnTo>
                  <a:lnTo>
                    <a:pt x="0" y="120650"/>
                  </a:lnTo>
                  <a:moveTo>
                    <a:pt x="12700" y="120650"/>
                  </a:moveTo>
                  <a:lnTo>
                    <a:pt x="12700" y="504190"/>
                  </a:lnTo>
                  <a:lnTo>
                    <a:pt x="6350" y="504190"/>
                  </a:lnTo>
                  <a:lnTo>
                    <a:pt x="12700" y="504190"/>
                  </a:lnTo>
                  <a:cubicBezTo>
                    <a:pt x="12700" y="563753"/>
                    <a:pt x="60960" y="612140"/>
                    <a:pt x="120650" y="612140"/>
                  </a:cubicBezTo>
                  <a:lnTo>
                    <a:pt x="504190" y="612140"/>
                  </a:lnTo>
                  <a:cubicBezTo>
                    <a:pt x="563753" y="612140"/>
                    <a:pt x="612140" y="563880"/>
                    <a:pt x="612140" y="504190"/>
                  </a:cubicBezTo>
                  <a:lnTo>
                    <a:pt x="612140" y="120650"/>
                  </a:lnTo>
                  <a:cubicBezTo>
                    <a:pt x="612140" y="61087"/>
                    <a:pt x="563880" y="12700"/>
                    <a:pt x="504190" y="12700"/>
                  </a:cubicBezTo>
                  <a:lnTo>
                    <a:pt x="120650" y="12700"/>
                  </a:lnTo>
                  <a:lnTo>
                    <a:pt x="120650" y="6350"/>
                  </a:lnTo>
                  <a:lnTo>
                    <a:pt x="120650" y="12700"/>
                  </a:lnTo>
                  <a:cubicBezTo>
                    <a:pt x="60960" y="12700"/>
                    <a:pt x="12700" y="60960"/>
                    <a:pt x="12700" y="1206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990857" y="3861492"/>
            <a:ext cx="305991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63766" y="3826669"/>
            <a:ext cx="2792016" cy="33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H₂: Attendance 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63766" y="4223747"/>
            <a:ext cx="6018457" cy="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Higher attendance rates correlate with improved academic outcomes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330956" y="4988566"/>
            <a:ext cx="611981" cy="28575"/>
            <a:chOff x="0" y="0"/>
            <a:chExt cx="815975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5975" cy="38100"/>
            </a:xfrm>
            <a:custGeom>
              <a:avLst/>
              <a:gdLst/>
              <a:ahLst/>
              <a:cxnLst/>
              <a:rect r="r" b="b" t="t" l="l"/>
              <a:pathLst>
                <a:path h="38100" w="81597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6925" y="0"/>
                  </a:lnTo>
                  <a:cubicBezTo>
                    <a:pt x="807466" y="0"/>
                    <a:pt x="815975" y="8509"/>
                    <a:pt x="815975" y="19050"/>
                  </a:cubicBezTo>
                  <a:cubicBezTo>
                    <a:pt x="815975" y="29591"/>
                    <a:pt x="807466" y="38100"/>
                    <a:pt x="7969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09599" y="4768606"/>
            <a:ext cx="468516" cy="468516"/>
            <a:chOff x="0" y="0"/>
            <a:chExt cx="624688" cy="6246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612140" cy="612140"/>
            </a:xfrm>
            <a:custGeom>
              <a:avLst/>
              <a:gdLst/>
              <a:ahLst/>
              <a:cxnLst/>
              <a:rect r="r" b="b" t="t" l="l"/>
              <a:pathLst>
                <a:path h="612140" w="61214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97840" y="0"/>
                  </a:lnTo>
                  <a:cubicBezTo>
                    <a:pt x="560959" y="0"/>
                    <a:pt x="612140" y="51181"/>
                    <a:pt x="612140" y="114300"/>
                  </a:cubicBezTo>
                  <a:lnTo>
                    <a:pt x="612140" y="497840"/>
                  </a:lnTo>
                  <a:cubicBezTo>
                    <a:pt x="612140" y="560959"/>
                    <a:pt x="560959" y="612140"/>
                    <a:pt x="497840" y="612140"/>
                  </a:cubicBezTo>
                  <a:lnTo>
                    <a:pt x="114300" y="612140"/>
                  </a:lnTo>
                  <a:cubicBezTo>
                    <a:pt x="51181" y="612140"/>
                    <a:pt x="0" y="560959"/>
                    <a:pt x="0" y="497840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4840" cy="624840"/>
            </a:xfrm>
            <a:custGeom>
              <a:avLst/>
              <a:gdLst/>
              <a:ahLst/>
              <a:cxnLst/>
              <a:rect r="r" b="b" t="t" l="l"/>
              <a:pathLst>
                <a:path h="624840" w="62484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04190" y="0"/>
                  </a:lnTo>
                  <a:lnTo>
                    <a:pt x="504190" y="6350"/>
                  </a:lnTo>
                  <a:lnTo>
                    <a:pt x="504190" y="0"/>
                  </a:lnTo>
                  <a:cubicBezTo>
                    <a:pt x="570738" y="0"/>
                    <a:pt x="624840" y="53975"/>
                    <a:pt x="624840" y="120650"/>
                  </a:cubicBezTo>
                  <a:lnTo>
                    <a:pt x="618490" y="120650"/>
                  </a:lnTo>
                  <a:lnTo>
                    <a:pt x="624840" y="120650"/>
                  </a:lnTo>
                  <a:lnTo>
                    <a:pt x="624840" y="504190"/>
                  </a:lnTo>
                  <a:lnTo>
                    <a:pt x="618490" y="504190"/>
                  </a:lnTo>
                  <a:lnTo>
                    <a:pt x="624840" y="504190"/>
                  </a:lnTo>
                  <a:cubicBezTo>
                    <a:pt x="624840" y="570738"/>
                    <a:pt x="570865" y="624840"/>
                    <a:pt x="504190" y="624840"/>
                  </a:cubicBezTo>
                  <a:lnTo>
                    <a:pt x="504190" y="618490"/>
                  </a:lnTo>
                  <a:lnTo>
                    <a:pt x="504190" y="624840"/>
                  </a:lnTo>
                  <a:lnTo>
                    <a:pt x="120650" y="624840"/>
                  </a:lnTo>
                  <a:lnTo>
                    <a:pt x="120650" y="618490"/>
                  </a:lnTo>
                  <a:lnTo>
                    <a:pt x="120650" y="624840"/>
                  </a:lnTo>
                  <a:cubicBezTo>
                    <a:pt x="54102" y="624840"/>
                    <a:pt x="0" y="570865"/>
                    <a:pt x="0" y="504190"/>
                  </a:cubicBezTo>
                  <a:lnTo>
                    <a:pt x="0" y="120650"/>
                  </a:lnTo>
                  <a:lnTo>
                    <a:pt x="6350" y="120650"/>
                  </a:lnTo>
                  <a:lnTo>
                    <a:pt x="0" y="120650"/>
                  </a:lnTo>
                  <a:moveTo>
                    <a:pt x="12700" y="120650"/>
                  </a:moveTo>
                  <a:lnTo>
                    <a:pt x="12700" y="504190"/>
                  </a:lnTo>
                  <a:lnTo>
                    <a:pt x="6350" y="504190"/>
                  </a:lnTo>
                  <a:lnTo>
                    <a:pt x="12700" y="504190"/>
                  </a:lnTo>
                  <a:cubicBezTo>
                    <a:pt x="12700" y="563753"/>
                    <a:pt x="60960" y="612140"/>
                    <a:pt x="120650" y="612140"/>
                  </a:cubicBezTo>
                  <a:lnTo>
                    <a:pt x="504190" y="612140"/>
                  </a:lnTo>
                  <a:cubicBezTo>
                    <a:pt x="563753" y="612140"/>
                    <a:pt x="612140" y="563880"/>
                    <a:pt x="612140" y="504190"/>
                  </a:cubicBezTo>
                  <a:lnTo>
                    <a:pt x="612140" y="120650"/>
                  </a:lnTo>
                  <a:cubicBezTo>
                    <a:pt x="612140" y="61087"/>
                    <a:pt x="563880" y="12700"/>
                    <a:pt x="504190" y="12700"/>
                  </a:cubicBezTo>
                  <a:lnTo>
                    <a:pt x="120650" y="12700"/>
                  </a:lnTo>
                  <a:lnTo>
                    <a:pt x="120650" y="6350"/>
                  </a:lnTo>
                  <a:lnTo>
                    <a:pt x="120650" y="12700"/>
                  </a:lnTo>
                  <a:cubicBezTo>
                    <a:pt x="60960" y="12700"/>
                    <a:pt x="12700" y="60960"/>
                    <a:pt x="12700" y="1206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990857" y="4859236"/>
            <a:ext cx="305991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307216" y="4824412"/>
            <a:ext cx="2816723" cy="33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0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H₃: Parental Education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05616" y="5221491"/>
            <a:ext cx="6018314" cy="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56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Family educational background positively influences student achievement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44768" y="5986462"/>
            <a:ext cx="611981" cy="28575"/>
            <a:chOff x="0" y="0"/>
            <a:chExt cx="815975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5975" cy="38100"/>
            </a:xfrm>
            <a:custGeom>
              <a:avLst/>
              <a:gdLst/>
              <a:ahLst/>
              <a:cxnLst/>
              <a:rect r="r" b="b" t="t" l="l"/>
              <a:pathLst>
                <a:path h="38100" w="81597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6925" y="0"/>
                  </a:lnTo>
                  <a:cubicBezTo>
                    <a:pt x="807466" y="0"/>
                    <a:pt x="815975" y="8509"/>
                    <a:pt x="815975" y="19050"/>
                  </a:cubicBezTo>
                  <a:cubicBezTo>
                    <a:pt x="815975" y="29591"/>
                    <a:pt x="807466" y="38100"/>
                    <a:pt x="7969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09599" y="5766492"/>
            <a:ext cx="468516" cy="468516"/>
            <a:chOff x="0" y="0"/>
            <a:chExt cx="624688" cy="624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612140" cy="612140"/>
            </a:xfrm>
            <a:custGeom>
              <a:avLst/>
              <a:gdLst/>
              <a:ahLst/>
              <a:cxnLst/>
              <a:rect r="r" b="b" t="t" l="l"/>
              <a:pathLst>
                <a:path h="612140" w="61214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97840" y="0"/>
                  </a:lnTo>
                  <a:cubicBezTo>
                    <a:pt x="560959" y="0"/>
                    <a:pt x="612140" y="51181"/>
                    <a:pt x="612140" y="114300"/>
                  </a:cubicBezTo>
                  <a:lnTo>
                    <a:pt x="612140" y="497840"/>
                  </a:lnTo>
                  <a:cubicBezTo>
                    <a:pt x="612140" y="560959"/>
                    <a:pt x="560959" y="612140"/>
                    <a:pt x="497840" y="612140"/>
                  </a:cubicBezTo>
                  <a:lnTo>
                    <a:pt x="114300" y="612140"/>
                  </a:lnTo>
                  <a:cubicBezTo>
                    <a:pt x="51181" y="612140"/>
                    <a:pt x="0" y="560959"/>
                    <a:pt x="0" y="497840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4840" cy="624840"/>
            </a:xfrm>
            <a:custGeom>
              <a:avLst/>
              <a:gdLst/>
              <a:ahLst/>
              <a:cxnLst/>
              <a:rect r="r" b="b" t="t" l="l"/>
              <a:pathLst>
                <a:path h="624840" w="62484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04190" y="0"/>
                  </a:lnTo>
                  <a:lnTo>
                    <a:pt x="504190" y="6350"/>
                  </a:lnTo>
                  <a:lnTo>
                    <a:pt x="504190" y="0"/>
                  </a:lnTo>
                  <a:cubicBezTo>
                    <a:pt x="570738" y="0"/>
                    <a:pt x="624840" y="53975"/>
                    <a:pt x="624840" y="120650"/>
                  </a:cubicBezTo>
                  <a:lnTo>
                    <a:pt x="618490" y="120650"/>
                  </a:lnTo>
                  <a:lnTo>
                    <a:pt x="624840" y="120650"/>
                  </a:lnTo>
                  <a:lnTo>
                    <a:pt x="624840" y="504190"/>
                  </a:lnTo>
                  <a:lnTo>
                    <a:pt x="618490" y="504190"/>
                  </a:lnTo>
                  <a:lnTo>
                    <a:pt x="624840" y="504190"/>
                  </a:lnTo>
                  <a:cubicBezTo>
                    <a:pt x="624840" y="570738"/>
                    <a:pt x="570865" y="624840"/>
                    <a:pt x="504190" y="624840"/>
                  </a:cubicBezTo>
                  <a:lnTo>
                    <a:pt x="504190" y="618490"/>
                  </a:lnTo>
                  <a:lnTo>
                    <a:pt x="504190" y="624840"/>
                  </a:lnTo>
                  <a:lnTo>
                    <a:pt x="120650" y="624840"/>
                  </a:lnTo>
                  <a:lnTo>
                    <a:pt x="120650" y="618490"/>
                  </a:lnTo>
                  <a:lnTo>
                    <a:pt x="120650" y="624840"/>
                  </a:lnTo>
                  <a:cubicBezTo>
                    <a:pt x="54102" y="624840"/>
                    <a:pt x="0" y="570865"/>
                    <a:pt x="0" y="504190"/>
                  </a:cubicBezTo>
                  <a:lnTo>
                    <a:pt x="0" y="120650"/>
                  </a:lnTo>
                  <a:lnTo>
                    <a:pt x="6350" y="120650"/>
                  </a:lnTo>
                  <a:lnTo>
                    <a:pt x="0" y="120650"/>
                  </a:lnTo>
                  <a:moveTo>
                    <a:pt x="12700" y="120650"/>
                  </a:moveTo>
                  <a:lnTo>
                    <a:pt x="12700" y="504190"/>
                  </a:lnTo>
                  <a:lnTo>
                    <a:pt x="6350" y="504190"/>
                  </a:lnTo>
                  <a:lnTo>
                    <a:pt x="12700" y="504190"/>
                  </a:lnTo>
                  <a:cubicBezTo>
                    <a:pt x="12700" y="563753"/>
                    <a:pt x="60960" y="612140"/>
                    <a:pt x="120650" y="612140"/>
                  </a:cubicBezTo>
                  <a:lnTo>
                    <a:pt x="504190" y="612140"/>
                  </a:lnTo>
                  <a:cubicBezTo>
                    <a:pt x="563753" y="612140"/>
                    <a:pt x="612140" y="563880"/>
                    <a:pt x="612140" y="504190"/>
                  </a:cubicBezTo>
                  <a:lnTo>
                    <a:pt x="612140" y="120650"/>
                  </a:lnTo>
                  <a:cubicBezTo>
                    <a:pt x="612140" y="61087"/>
                    <a:pt x="563880" y="12700"/>
                    <a:pt x="504190" y="12700"/>
                  </a:cubicBezTo>
                  <a:lnTo>
                    <a:pt x="120650" y="12700"/>
                  </a:lnTo>
                  <a:lnTo>
                    <a:pt x="120650" y="6350"/>
                  </a:lnTo>
                  <a:lnTo>
                    <a:pt x="120650" y="12700"/>
                  </a:lnTo>
                  <a:cubicBezTo>
                    <a:pt x="60960" y="12700"/>
                    <a:pt x="12700" y="60960"/>
                    <a:pt x="12700" y="1206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990857" y="5857132"/>
            <a:ext cx="305991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63766" y="5822309"/>
            <a:ext cx="3029102" cy="33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H₄: Subject Performance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63766" y="6219377"/>
            <a:ext cx="6018457" cy="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Individual subject marks strongly predict overall academic results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330956" y="6984359"/>
            <a:ext cx="611981" cy="28575"/>
            <a:chOff x="0" y="0"/>
            <a:chExt cx="815975" cy="38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5975" cy="38100"/>
            </a:xfrm>
            <a:custGeom>
              <a:avLst/>
              <a:gdLst/>
              <a:ahLst/>
              <a:cxnLst/>
              <a:rect r="r" b="b" t="t" l="l"/>
              <a:pathLst>
                <a:path h="38100" w="81597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6925" y="0"/>
                  </a:lnTo>
                  <a:cubicBezTo>
                    <a:pt x="807466" y="0"/>
                    <a:pt x="815975" y="8509"/>
                    <a:pt x="815975" y="19050"/>
                  </a:cubicBezTo>
                  <a:cubicBezTo>
                    <a:pt x="815975" y="29591"/>
                    <a:pt x="807466" y="38100"/>
                    <a:pt x="7969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09599" y="6764388"/>
            <a:ext cx="468516" cy="468516"/>
            <a:chOff x="0" y="0"/>
            <a:chExt cx="624688" cy="624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" y="6350"/>
              <a:ext cx="612140" cy="612140"/>
            </a:xfrm>
            <a:custGeom>
              <a:avLst/>
              <a:gdLst/>
              <a:ahLst/>
              <a:cxnLst/>
              <a:rect r="r" b="b" t="t" l="l"/>
              <a:pathLst>
                <a:path h="612140" w="61214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97840" y="0"/>
                  </a:lnTo>
                  <a:cubicBezTo>
                    <a:pt x="560959" y="0"/>
                    <a:pt x="612140" y="51181"/>
                    <a:pt x="612140" y="114300"/>
                  </a:cubicBezTo>
                  <a:lnTo>
                    <a:pt x="612140" y="497840"/>
                  </a:lnTo>
                  <a:cubicBezTo>
                    <a:pt x="612140" y="560959"/>
                    <a:pt x="560959" y="612140"/>
                    <a:pt x="497840" y="612140"/>
                  </a:cubicBezTo>
                  <a:lnTo>
                    <a:pt x="114300" y="612140"/>
                  </a:lnTo>
                  <a:cubicBezTo>
                    <a:pt x="51181" y="612140"/>
                    <a:pt x="0" y="560959"/>
                    <a:pt x="0" y="497840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4840" cy="624840"/>
            </a:xfrm>
            <a:custGeom>
              <a:avLst/>
              <a:gdLst/>
              <a:ahLst/>
              <a:cxnLst/>
              <a:rect r="r" b="b" t="t" l="l"/>
              <a:pathLst>
                <a:path h="624840" w="62484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04190" y="0"/>
                  </a:lnTo>
                  <a:lnTo>
                    <a:pt x="504190" y="6350"/>
                  </a:lnTo>
                  <a:lnTo>
                    <a:pt x="504190" y="0"/>
                  </a:lnTo>
                  <a:cubicBezTo>
                    <a:pt x="570738" y="0"/>
                    <a:pt x="624840" y="53975"/>
                    <a:pt x="624840" y="120650"/>
                  </a:cubicBezTo>
                  <a:lnTo>
                    <a:pt x="618490" y="120650"/>
                  </a:lnTo>
                  <a:lnTo>
                    <a:pt x="624840" y="120650"/>
                  </a:lnTo>
                  <a:lnTo>
                    <a:pt x="624840" y="504190"/>
                  </a:lnTo>
                  <a:lnTo>
                    <a:pt x="618490" y="504190"/>
                  </a:lnTo>
                  <a:lnTo>
                    <a:pt x="624840" y="504190"/>
                  </a:lnTo>
                  <a:cubicBezTo>
                    <a:pt x="624840" y="570738"/>
                    <a:pt x="570865" y="624840"/>
                    <a:pt x="504190" y="624840"/>
                  </a:cubicBezTo>
                  <a:lnTo>
                    <a:pt x="504190" y="618490"/>
                  </a:lnTo>
                  <a:lnTo>
                    <a:pt x="504190" y="624840"/>
                  </a:lnTo>
                  <a:lnTo>
                    <a:pt x="120650" y="624840"/>
                  </a:lnTo>
                  <a:lnTo>
                    <a:pt x="120650" y="618490"/>
                  </a:lnTo>
                  <a:lnTo>
                    <a:pt x="120650" y="624840"/>
                  </a:lnTo>
                  <a:cubicBezTo>
                    <a:pt x="54102" y="624840"/>
                    <a:pt x="0" y="570865"/>
                    <a:pt x="0" y="504190"/>
                  </a:cubicBezTo>
                  <a:lnTo>
                    <a:pt x="0" y="120650"/>
                  </a:lnTo>
                  <a:lnTo>
                    <a:pt x="6350" y="120650"/>
                  </a:lnTo>
                  <a:lnTo>
                    <a:pt x="0" y="120650"/>
                  </a:lnTo>
                  <a:moveTo>
                    <a:pt x="12700" y="120650"/>
                  </a:moveTo>
                  <a:lnTo>
                    <a:pt x="12700" y="504190"/>
                  </a:lnTo>
                  <a:lnTo>
                    <a:pt x="6350" y="504190"/>
                  </a:lnTo>
                  <a:lnTo>
                    <a:pt x="12700" y="504190"/>
                  </a:lnTo>
                  <a:cubicBezTo>
                    <a:pt x="12700" y="563753"/>
                    <a:pt x="60960" y="612140"/>
                    <a:pt x="120650" y="612140"/>
                  </a:cubicBezTo>
                  <a:lnTo>
                    <a:pt x="504190" y="612140"/>
                  </a:lnTo>
                  <a:cubicBezTo>
                    <a:pt x="563753" y="612140"/>
                    <a:pt x="612140" y="563880"/>
                    <a:pt x="612140" y="504190"/>
                  </a:cubicBezTo>
                  <a:lnTo>
                    <a:pt x="612140" y="120650"/>
                  </a:lnTo>
                  <a:cubicBezTo>
                    <a:pt x="612140" y="61087"/>
                    <a:pt x="563880" y="12700"/>
                    <a:pt x="504190" y="12700"/>
                  </a:cubicBezTo>
                  <a:lnTo>
                    <a:pt x="120650" y="12700"/>
                  </a:lnTo>
                  <a:lnTo>
                    <a:pt x="120650" y="6350"/>
                  </a:lnTo>
                  <a:lnTo>
                    <a:pt x="120650" y="12700"/>
                  </a:lnTo>
                  <a:cubicBezTo>
                    <a:pt x="60960" y="12700"/>
                    <a:pt x="12700" y="60960"/>
                    <a:pt x="12700" y="1206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8990857" y="6855028"/>
            <a:ext cx="305991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95017" y="6820195"/>
            <a:ext cx="2728912" cy="33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0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H₅: Technology Access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105616" y="7217273"/>
            <a:ext cx="6018314" cy="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56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Students with internet access demonstrate enhanced performance levels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2105616" y="8636498"/>
            <a:ext cx="14076607" cy="712146"/>
            <a:chOff x="0" y="0"/>
            <a:chExt cx="18768809" cy="9495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768822" cy="949579"/>
            </a:xfrm>
            <a:custGeom>
              <a:avLst/>
              <a:gdLst/>
              <a:ahLst/>
              <a:cxnLst/>
              <a:rect r="r" b="b" t="t" l="l"/>
              <a:pathLst>
                <a:path h="949579" w="18768822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8654522" y="0"/>
                  </a:lnTo>
                  <a:cubicBezTo>
                    <a:pt x="18717640" y="0"/>
                    <a:pt x="18768822" y="51181"/>
                    <a:pt x="18768822" y="114300"/>
                  </a:cubicBezTo>
                  <a:lnTo>
                    <a:pt x="18768822" y="835279"/>
                  </a:lnTo>
                  <a:cubicBezTo>
                    <a:pt x="18768822" y="898398"/>
                    <a:pt x="18717640" y="949579"/>
                    <a:pt x="18654522" y="949579"/>
                  </a:cubicBezTo>
                  <a:lnTo>
                    <a:pt x="114300" y="949579"/>
                  </a:lnTo>
                  <a:cubicBezTo>
                    <a:pt x="51181" y="949579"/>
                    <a:pt x="0" y="898398"/>
                    <a:pt x="0" y="835279"/>
                  </a:cubicBezTo>
                  <a:close/>
                </a:path>
              </a:pathLst>
            </a:custGeom>
            <a:solidFill>
              <a:srgbClr val="DDDAD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309517" y="8931916"/>
            <a:ext cx="254946" cy="203892"/>
            <a:chOff x="0" y="0"/>
            <a:chExt cx="339928" cy="271856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339979" cy="271907"/>
            </a:xfrm>
            <a:custGeom>
              <a:avLst/>
              <a:gdLst/>
              <a:ahLst/>
              <a:cxnLst/>
              <a:rect r="r" b="b" t="t" l="l"/>
              <a:pathLst>
                <a:path h="271907" w="339979">
                  <a:moveTo>
                    <a:pt x="0" y="0"/>
                  </a:moveTo>
                  <a:lnTo>
                    <a:pt x="339979" y="0"/>
                  </a:lnTo>
                  <a:lnTo>
                    <a:pt x="339979" y="271907"/>
                  </a:lnTo>
                  <a:lnTo>
                    <a:pt x="0" y="2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12" t="0" r="-1397" b="18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2768356" y="8805567"/>
            <a:ext cx="13209984" cy="30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These hypotheses guide our statistical testing framework and model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2901" y="1846212"/>
            <a:ext cx="6920065" cy="63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Formal Statistical Hypotheses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82901" y="3478854"/>
            <a:ext cx="6977358" cy="3492103"/>
            <a:chOff x="0" y="0"/>
            <a:chExt cx="9303144" cy="46561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303131" cy="4656201"/>
            </a:xfrm>
            <a:custGeom>
              <a:avLst/>
              <a:gdLst/>
              <a:ahLst/>
              <a:cxnLst/>
              <a:rect r="r" b="b" t="t" l="l"/>
              <a:pathLst>
                <a:path h="4656201" w="9303131">
                  <a:moveTo>
                    <a:pt x="0" y="0"/>
                  </a:moveTo>
                  <a:lnTo>
                    <a:pt x="9303131" y="0"/>
                  </a:lnTo>
                  <a:lnTo>
                    <a:pt x="9303131" y="4656201"/>
                  </a:lnTo>
                  <a:lnTo>
                    <a:pt x="0" y="465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14324" y="4970555"/>
            <a:ext cx="1310411" cy="40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Low Evidence for No Effect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8929" y="6664109"/>
            <a:ext cx="1808350" cy="20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Low Evidence for Effect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1452" y="4970555"/>
            <a:ext cx="1310411" cy="40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High Evidence for No Effect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46383" y="3612661"/>
            <a:ext cx="1845593" cy="20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1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High Evidence for Effect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38117" y="5941638"/>
            <a:ext cx="1345263" cy="24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Type I Error — False positive (α)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4972221" y="5475189"/>
            <a:ext cx="195167" cy="195167"/>
          </a:xfrm>
          <a:custGeom>
            <a:avLst/>
            <a:gdLst/>
            <a:ahLst/>
            <a:cxnLst/>
            <a:rect r="r" b="b" t="t" l="l"/>
            <a:pathLst>
              <a:path h="195167" w="195167">
                <a:moveTo>
                  <a:pt x="0" y="0"/>
                </a:moveTo>
                <a:lnTo>
                  <a:pt x="195168" y="0"/>
                </a:lnTo>
                <a:lnTo>
                  <a:pt x="195168" y="195167"/>
                </a:lnTo>
                <a:lnTo>
                  <a:pt x="0" y="195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2381" r="0" b="-10238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285243" y="5948610"/>
            <a:ext cx="1345263" cy="24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Type II Error — False negative (β)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6860286" y="5479323"/>
            <a:ext cx="195167" cy="195167"/>
          </a:xfrm>
          <a:custGeom>
            <a:avLst/>
            <a:gdLst/>
            <a:ahLst/>
            <a:cxnLst/>
            <a:rect r="r" b="b" t="t" l="l"/>
            <a:pathLst>
              <a:path h="195167" w="195167">
                <a:moveTo>
                  <a:pt x="0" y="0"/>
                </a:moveTo>
                <a:lnTo>
                  <a:pt x="195167" y="0"/>
                </a:lnTo>
                <a:lnTo>
                  <a:pt x="195167" y="195167"/>
                </a:lnTo>
                <a:lnTo>
                  <a:pt x="0" y="195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85243" y="4593222"/>
            <a:ext cx="1345263" cy="37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Fail to reject H₀ — Evidence supports no effect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6860286" y="4189828"/>
            <a:ext cx="195167" cy="195167"/>
          </a:xfrm>
          <a:custGeom>
            <a:avLst/>
            <a:gdLst/>
            <a:ahLst/>
            <a:cxnLst/>
            <a:rect r="r" b="b" t="t" l="l"/>
            <a:pathLst>
              <a:path h="195167" w="195167">
                <a:moveTo>
                  <a:pt x="0" y="0"/>
                </a:moveTo>
                <a:lnTo>
                  <a:pt x="195167" y="0"/>
                </a:lnTo>
                <a:lnTo>
                  <a:pt x="195167" y="195168"/>
                </a:lnTo>
                <a:lnTo>
                  <a:pt x="0" y="195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381" t="0" r="-238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396302" y="4659106"/>
            <a:ext cx="1345263" cy="24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Reject H₀ — Strong evidence for H₁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4971345" y="4189828"/>
            <a:ext cx="195167" cy="195167"/>
          </a:xfrm>
          <a:custGeom>
            <a:avLst/>
            <a:gdLst/>
            <a:ahLst/>
            <a:cxnLst/>
            <a:rect r="r" b="b" t="t" l="l"/>
            <a:pathLst>
              <a:path h="195167" w="195167">
                <a:moveTo>
                  <a:pt x="0" y="0"/>
                </a:moveTo>
                <a:lnTo>
                  <a:pt x="195167" y="0"/>
                </a:lnTo>
                <a:lnTo>
                  <a:pt x="195167" y="195168"/>
                </a:lnTo>
                <a:lnTo>
                  <a:pt x="0" y="195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9048" t="0" r="-19048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82901" y="7099697"/>
            <a:ext cx="6977358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Each research question translates into testable null and alternative hypotheses.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6393" y="2808684"/>
            <a:ext cx="5902376" cy="1542307"/>
            <a:chOff x="0" y="0"/>
            <a:chExt cx="7869834" cy="20564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7831709" cy="2018284"/>
            </a:xfrm>
            <a:custGeom>
              <a:avLst/>
              <a:gdLst/>
              <a:ahLst/>
              <a:cxnLst/>
              <a:rect r="r" b="b" t="t" l="l"/>
              <a:pathLst>
                <a:path h="2018284" w="7831709">
                  <a:moveTo>
                    <a:pt x="0" y="108077"/>
                  </a:moveTo>
                  <a:cubicBezTo>
                    <a:pt x="0" y="48387"/>
                    <a:pt x="49022" y="0"/>
                    <a:pt x="109601" y="0"/>
                  </a:cubicBezTo>
                  <a:lnTo>
                    <a:pt x="7722108" y="0"/>
                  </a:lnTo>
                  <a:cubicBezTo>
                    <a:pt x="7782687" y="0"/>
                    <a:pt x="7831709" y="48387"/>
                    <a:pt x="7831709" y="108077"/>
                  </a:cubicBezTo>
                  <a:lnTo>
                    <a:pt x="7831709" y="1910207"/>
                  </a:lnTo>
                  <a:cubicBezTo>
                    <a:pt x="7831709" y="1969897"/>
                    <a:pt x="7782687" y="2018284"/>
                    <a:pt x="7722108" y="2018284"/>
                  </a:cubicBezTo>
                  <a:lnTo>
                    <a:pt x="109601" y="2018284"/>
                  </a:lnTo>
                  <a:cubicBezTo>
                    <a:pt x="49022" y="2018284"/>
                    <a:pt x="0" y="1969897"/>
                    <a:pt x="0" y="191020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9809" cy="2056384"/>
            </a:xfrm>
            <a:custGeom>
              <a:avLst/>
              <a:gdLst/>
              <a:ahLst/>
              <a:cxnLst/>
              <a:rect r="r" b="b" t="t" l="l"/>
              <a:pathLst>
                <a:path h="2056384" w="7869809">
                  <a:moveTo>
                    <a:pt x="0" y="127127"/>
                  </a:moveTo>
                  <a:cubicBezTo>
                    <a:pt x="0" y="56642"/>
                    <a:pt x="57912" y="0"/>
                    <a:pt x="128651" y="0"/>
                  </a:cubicBezTo>
                  <a:lnTo>
                    <a:pt x="7741158" y="0"/>
                  </a:lnTo>
                  <a:lnTo>
                    <a:pt x="7741158" y="19050"/>
                  </a:lnTo>
                  <a:lnTo>
                    <a:pt x="7741158" y="0"/>
                  </a:lnTo>
                  <a:cubicBezTo>
                    <a:pt x="7812024" y="0"/>
                    <a:pt x="7869809" y="56642"/>
                    <a:pt x="7869809" y="127127"/>
                  </a:cubicBezTo>
                  <a:lnTo>
                    <a:pt x="7850759" y="127127"/>
                  </a:lnTo>
                  <a:lnTo>
                    <a:pt x="7869809" y="127127"/>
                  </a:lnTo>
                  <a:lnTo>
                    <a:pt x="7869809" y="1929257"/>
                  </a:lnTo>
                  <a:lnTo>
                    <a:pt x="7850759" y="1929257"/>
                  </a:lnTo>
                  <a:lnTo>
                    <a:pt x="7869809" y="1929257"/>
                  </a:lnTo>
                  <a:cubicBezTo>
                    <a:pt x="7869809" y="1999742"/>
                    <a:pt x="7811897" y="2056384"/>
                    <a:pt x="7741158" y="2056384"/>
                  </a:cubicBezTo>
                  <a:lnTo>
                    <a:pt x="7741158" y="2037334"/>
                  </a:lnTo>
                  <a:lnTo>
                    <a:pt x="7741158" y="2056384"/>
                  </a:lnTo>
                  <a:lnTo>
                    <a:pt x="128651" y="2056384"/>
                  </a:lnTo>
                  <a:lnTo>
                    <a:pt x="128651" y="2037334"/>
                  </a:lnTo>
                  <a:lnTo>
                    <a:pt x="128651" y="2056384"/>
                  </a:lnTo>
                  <a:cubicBezTo>
                    <a:pt x="57912" y="2056384"/>
                    <a:pt x="0" y="1999742"/>
                    <a:pt x="0" y="1929257"/>
                  </a:cubicBezTo>
                  <a:lnTo>
                    <a:pt x="0" y="127127"/>
                  </a:lnTo>
                  <a:lnTo>
                    <a:pt x="19050" y="127127"/>
                  </a:lnTo>
                  <a:lnTo>
                    <a:pt x="0" y="127127"/>
                  </a:lnTo>
                  <a:moveTo>
                    <a:pt x="38100" y="127127"/>
                  </a:moveTo>
                  <a:lnTo>
                    <a:pt x="38100" y="1929257"/>
                  </a:lnTo>
                  <a:lnTo>
                    <a:pt x="19050" y="1929257"/>
                  </a:lnTo>
                  <a:lnTo>
                    <a:pt x="38100" y="1929257"/>
                  </a:lnTo>
                  <a:cubicBezTo>
                    <a:pt x="38100" y="1978152"/>
                    <a:pt x="78359" y="2018284"/>
                    <a:pt x="128651" y="2018284"/>
                  </a:cubicBezTo>
                  <a:lnTo>
                    <a:pt x="7741158" y="2018284"/>
                  </a:lnTo>
                  <a:cubicBezTo>
                    <a:pt x="7791450" y="2018284"/>
                    <a:pt x="7831709" y="1978152"/>
                    <a:pt x="7831709" y="1929257"/>
                  </a:cubicBezTo>
                  <a:lnTo>
                    <a:pt x="7831709" y="127127"/>
                  </a:lnTo>
                  <a:cubicBezTo>
                    <a:pt x="7831709" y="78232"/>
                    <a:pt x="7791450" y="38100"/>
                    <a:pt x="7741158" y="38100"/>
                  </a:cubicBezTo>
                  <a:lnTo>
                    <a:pt x="128651" y="38100"/>
                  </a:lnTo>
                  <a:lnTo>
                    <a:pt x="128651" y="19050"/>
                  </a:lnTo>
                  <a:lnTo>
                    <a:pt x="128651" y="38100"/>
                  </a:lnTo>
                  <a:cubicBezTo>
                    <a:pt x="78359" y="38100"/>
                    <a:pt x="38100" y="78232"/>
                    <a:pt x="38100" y="127127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69256" y="2851547"/>
            <a:ext cx="772268" cy="1456582"/>
            <a:chOff x="0" y="0"/>
            <a:chExt cx="1029691" cy="19421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9589" cy="1942084"/>
            </a:xfrm>
            <a:custGeom>
              <a:avLst/>
              <a:gdLst/>
              <a:ahLst/>
              <a:cxnLst/>
              <a:rect r="r" b="b" t="t" l="l"/>
              <a:pathLst>
                <a:path h="1942084" w="1029589">
                  <a:moveTo>
                    <a:pt x="0" y="62357"/>
                  </a:moveTo>
                  <a:cubicBezTo>
                    <a:pt x="0" y="27940"/>
                    <a:pt x="27940" y="0"/>
                    <a:pt x="62357" y="0"/>
                  </a:cubicBezTo>
                  <a:lnTo>
                    <a:pt x="967232" y="0"/>
                  </a:lnTo>
                  <a:cubicBezTo>
                    <a:pt x="1001649" y="0"/>
                    <a:pt x="1029589" y="27940"/>
                    <a:pt x="1029589" y="62357"/>
                  </a:cubicBezTo>
                  <a:lnTo>
                    <a:pt x="1029589" y="1879727"/>
                  </a:lnTo>
                  <a:cubicBezTo>
                    <a:pt x="1029589" y="1914144"/>
                    <a:pt x="1001649" y="1942084"/>
                    <a:pt x="967232" y="1942084"/>
                  </a:cubicBezTo>
                  <a:lnTo>
                    <a:pt x="62357" y="1942084"/>
                  </a:lnTo>
                  <a:cubicBezTo>
                    <a:pt x="27940" y="1942084"/>
                    <a:pt x="0" y="1914144"/>
                    <a:pt x="0" y="1879727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0205885" y="3434953"/>
            <a:ext cx="289474" cy="289474"/>
          </a:xfrm>
          <a:custGeom>
            <a:avLst/>
            <a:gdLst/>
            <a:ahLst/>
            <a:cxnLst/>
            <a:rect r="r" b="b" t="t" l="l"/>
            <a:pathLst>
              <a:path h="289474" w="289474">
                <a:moveTo>
                  <a:pt x="0" y="0"/>
                </a:moveTo>
                <a:lnTo>
                  <a:pt x="289474" y="0"/>
                </a:lnTo>
                <a:lnTo>
                  <a:pt x="289474" y="289474"/>
                </a:lnTo>
                <a:lnTo>
                  <a:pt x="0" y="2894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72940" y="3035056"/>
            <a:ext cx="241339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Study Hours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72940" y="3458613"/>
            <a:ext cx="471993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H₀:</a:t>
            </a: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Study hours have no effect on scores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72940" y="3836489"/>
            <a:ext cx="471993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H₁:</a:t>
            </a: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Study hours significantly improve performance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26393" y="4453833"/>
            <a:ext cx="5902376" cy="1542307"/>
            <a:chOff x="0" y="0"/>
            <a:chExt cx="7869834" cy="20564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9050" y="19050"/>
              <a:ext cx="7831709" cy="2018284"/>
            </a:xfrm>
            <a:custGeom>
              <a:avLst/>
              <a:gdLst/>
              <a:ahLst/>
              <a:cxnLst/>
              <a:rect r="r" b="b" t="t" l="l"/>
              <a:pathLst>
                <a:path h="2018284" w="7831709">
                  <a:moveTo>
                    <a:pt x="0" y="108077"/>
                  </a:moveTo>
                  <a:cubicBezTo>
                    <a:pt x="0" y="48387"/>
                    <a:pt x="49022" y="0"/>
                    <a:pt x="109601" y="0"/>
                  </a:cubicBezTo>
                  <a:lnTo>
                    <a:pt x="7722108" y="0"/>
                  </a:lnTo>
                  <a:cubicBezTo>
                    <a:pt x="7782687" y="0"/>
                    <a:pt x="7831709" y="48387"/>
                    <a:pt x="7831709" y="108077"/>
                  </a:cubicBezTo>
                  <a:lnTo>
                    <a:pt x="7831709" y="1910207"/>
                  </a:lnTo>
                  <a:cubicBezTo>
                    <a:pt x="7831709" y="1969897"/>
                    <a:pt x="7782687" y="2018284"/>
                    <a:pt x="7722108" y="2018284"/>
                  </a:cubicBezTo>
                  <a:lnTo>
                    <a:pt x="109601" y="2018284"/>
                  </a:lnTo>
                  <a:cubicBezTo>
                    <a:pt x="49022" y="2018284"/>
                    <a:pt x="0" y="1969897"/>
                    <a:pt x="0" y="191020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69809" cy="2056384"/>
            </a:xfrm>
            <a:custGeom>
              <a:avLst/>
              <a:gdLst/>
              <a:ahLst/>
              <a:cxnLst/>
              <a:rect r="r" b="b" t="t" l="l"/>
              <a:pathLst>
                <a:path h="2056384" w="7869809">
                  <a:moveTo>
                    <a:pt x="0" y="127127"/>
                  </a:moveTo>
                  <a:cubicBezTo>
                    <a:pt x="0" y="56642"/>
                    <a:pt x="57912" y="0"/>
                    <a:pt x="128651" y="0"/>
                  </a:cubicBezTo>
                  <a:lnTo>
                    <a:pt x="7741158" y="0"/>
                  </a:lnTo>
                  <a:lnTo>
                    <a:pt x="7741158" y="19050"/>
                  </a:lnTo>
                  <a:lnTo>
                    <a:pt x="7741158" y="0"/>
                  </a:lnTo>
                  <a:cubicBezTo>
                    <a:pt x="7812024" y="0"/>
                    <a:pt x="7869809" y="56642"/>
                    <a:pt x="7869809" y="127127"/>
                  </a:cubicBezTo>
                  <a:lnTo>
                    <a:pt x="7850759" y="127127"/>
                  </a:lnTo>
                  <a:lnTo>
                    <a:pt x="7869809" y="127127"/>
                  </a:lnTo>
                  <a:lnTo>
                    <a:pt x="7869809" y="1929257"/>
                  </a:lnTo>
                  <a:lnTo>
                    <a:pt x="7850759" y="1929257"/>
                  </a:lnTo>
                  <a:lnTo>
                    <a:pt x="7869809" y="1929257"/>
                  </a:lnTo>
                  <a:cubicBezTo>
                    <a:pt x="7869809" y="1999742"/>
                    <a:pt x="7811897" y="2056384"/>
                    <a:pt x="7741158" y="2056384"/>
                  </a:cubicBezTo>
                  <a:lnTo>
                    <a:pt x="7741158" y="2037334"/>
                  </a:lnTo>
                  <a:lnTo>
                    <a:pt x="7741158" y="2056384"/>
                  </a:lnTo>
                  <a:lnTo>
                    <a:pt x="128651" y="2056384"/>
                  </a:lnTo>
                  <a:lnTo>
                    <a:pt x="128651" y="2037334"/>
                  </a:lnTo>
                  <a:lnTo>
                    <a:pt x="128651" y="2056384"/>
                  </a:lnTo>
                  <a:cubicBezTo>
                    <a:pt x="57912" y="2056384"/>
                    <a:pt x="0" y="1999742"/>
                    <a:pt x="0" y="1929257"/>
                  </a:cubicBezTo>
                  <a:lnTo>
                    <a:pt x="0" y="127127"/>
                  </a:lnTo>
                  <a:lnTo>
                    <a:pt x="19050" y="127127"/>
                  </a:lnTo>
                  <a:lnTo>
                    <a:pt x="0" y="127127"/>
                  </a:lnTo>
                  <a:moveTo>
                    <a:pt x="38100" y="127127"/>
                  </a:moveTo>
                  <a:lnTo>
                    <a:pt x="38100" y="1929257"/>
                  </a:lnTo>
                  <a:lnTo>
                    <a:pt x="19050" y="1929257"/>
                  </a:lnTo>
                  <a:lnTo>
                    <a:pt x="38100" y="1929257"/>
                  </a:lnTo>
                  <a:cubicBezTo>
                    <a:pt x="38100" y="1978152"/>
                    <a:pt x="78359" y="2018284"/>
                    <a:pt x="128651" y="2018284"/>
                  </a:cubicBezTo>
                  <a:lnTo>
                    <a:pt x="7741158" y="2018284"/>
                  </a:lnTo>
                  <a:cubicBezTo>
                    <a:pt x="7791450" y="2018284"/>
                    <a:pt x="7831709" y="1978152"/>
                    <a:pt x="7831709" y="1929257"/>
                  </a:cubicBezTo>
                  <a:lnTo>
                    <a:pt x="7831709" y="127127"/>
                  </a:lnTo>
                  <a:cubicBezTo>
                    <a:pt x="7831709" y="78232"/>
                    <a:pt x="7791450" y="38100"/>
                    <a:pt x="7741158" y="38100"/>
                  </a:cubicBezTo>
                  <a:lnTo>
                    <a:pt x="128651" y="38100"/>
                  </a:lnTo>
                  <a:lnTo>
                    <a:pt x="128651" y="19050"/>
                  </a:lnTo>
                  <a:lnTo>
                    <a:pt x="128651" y="38100"/>
                  </a:lnTo>
                  <a:cubicBezTo>
                    <a:pt x="78359" y="38100"/>
                    <a:pt x="38100" y="78232"/>
                    <a:pt x="38100" y="127127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969256" y="4496695"/>
            <a:ext cx="772268" cy="1456582"/>
            <a:chOff x="0" y="0"/>
            <a:chExt cx="1029691" cy="19421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9589" cy="1942084"/>
            </a:xfrm>
            <a:custGeom>
              <a:avLst/>
              <a:gdLst/>
              <a:ahLst/>
              <a:cxnLst/>
              <a:rect r="r" b="b" t="t" l="l"/>
              <a:pathLst>
                <a:path h="1942084" w="1029589">
                  <a:moveTo>
                    <a:pt x="0" y="62357"/>
                  </a:moveTo>
                  <a:cubicBezTo>
                    <a:pt x="0" y="27940"/>
                    <a:pt x="27940" y="0"/>
                    <a:pt x="62357" y="0"/>
                  </a:cubicBezTo>
                  <a:lnTo>
                    <a:pt x="967232" y="0"/>
                  </a:lnTo>
                  <a:cubicBezTo>
                    <a:pt x="1001649" y="0"/>
                    <a:pt x="1029589" y="27940"/>
                    <a:pt x="1029589" y="62357"/>
                  </a:cubicBezTo>
                  <a:lnTo>
                    <a:pt x="1029589" y="1879727"/>
                  </a:lnTo>
                  <a:cubicBezTo>
                    <a:pt x="1029589" y="1914144"/>
                    <a:pt x="1001649" y="1942084"/>
                    <a:pt x="967232" y="1942084"/>
                  </a:cubicBezTo>
                  <a:lnTo>
                    <a:pt x="62357" y="1942084"/>
                  </a:lnTo>
                  <a:cubicBezTo>
                    <a:pt x="27940" y="1942084"/>
                    <a:pt x="0" y="1914144"/>
                    <a:pt x="0" y="1879727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0205885" y="5080102"/>
            <a:ext cx="289474" cy="289474"/>
          </a:xfrm>
          <a:custGeom>
            <a:avLst/>
            <a:gdLst/>
            <a:ahLst/>
            <a:cxnLst/>
            <a:rect r="r" b="b" t="t" l="l"/>
            <a:pathLst>
              <a:path h="289474" w="289474">
                <a:moveTo>
                  <a:pt x="0" y="0"/>
                </a:moveTo>
                <a:lnTo>
                  <a:pt x="289474" y="0"/>
                </a:lnTo>
                <a:lnTo>
                  <a:pt x="289474" y="289474"/>
                </a:lnTo>
                <a:lnTo>
                  <a:pt x="0" y="2894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224" r="0" b="-3224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872940" y="4680194"/>
            <a:ext cx="241339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Attendance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72940" y="5103762"/>
            <a:ext cx="471993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H₀:</a:t>
            </a: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Attendance does not affect outcomes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72940" y="5481638"/>
            <a:ext cx="471993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H₁:</a:t>
            </a: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Attendance positively impacts results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926393" y="6098972"/>
            <a:ext cx="5902376" cy="1542307"/>
            <a:chOff x="0" y="0"/>
            <a:chExt cx="7869834" cy="205640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9050" y="19050"/>
              <a:ext cx="7831709" cy="2018284"/>
            </a:xfrm>
            <a:custGeom>
              <a:avLst/>
              <a:gdLst/>
              <a:ahLst/>
              <a:cxnLst/>
              <a:rect r="r" b="b" t="t" l="l"/>
              <a:pathLst>
                <a:path h="2018284" w="7831709">
                  <a:moveTo>
                    <a:pt x="0" y="108077"/>
                  </a:moveTo>
                  <a:cubicBezTo>
                    <a:pt x="0" y="48387"/>
                    <a:pt x="49022" y="0"/>
                    <a:pt x="109601" y="0"/>
                  </a:cubicBezTo>
                  <a:lnTo>
                    <a:pt x="7722108" y="0"/>
                  </a:lnTo>
                  <a:cubicBezTo>
                    <a:pt x="7782687" y="0"/>
                    <a:pt x="7831709" y="48387"/>
                    <a:pt x="7831709" y="108077"/>
                  </a:cubicBezTo>
                  <a:lnTo>
                    <a:pt x="7831709" y="1910207"/>
                  </a:lnTo>
                  <a:cubicBezTo>
                    <a:pt x="7831709" y="1969897"/>
                    <a:pt x="7782687" y="2018284"/>
                    <a:pt x="7722108" y="2018284"/>
                  </a:cubicBezTo>
                  <a:lnTo>
                    <a:pt x="109601" y="2018284"/>
                  </a:lnTo>
                  <a:cubicBezTo>
                    <a:pt x="49022" y="2018284"/>
                    <a:pt x="0" y="1969897"/>
                    <a:pt x="0" y="191020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69809" cy="2056384"/>
            </a:xfrm>
            <a:custGeom>
              <a:avLst/>
              <a:gdLst/>
              <a:ahLst/>
              <a:cxnLst/>
              <a:rect r="r" b="b" t="t" l="l"/>
              <a:pathLst>
                <a:path h="2056384" w="7869809">
                  <a:moveTo>
                    <a:pt x="0" y="127127"/>
                  </a:moveTo>
                  <a:cubicBezTo>
                    <a:pt x="0" y="56642"/>
                    <a:pt x="57912" y="0"/>
                    <a:pt x="128651" y="0"/>
                  </a:cubicBezTo>
                  <a:lnTo>
                    <a:pt x="7741158" y="0"/>
                  </a:lnTo>
                  <a:lnTo>
                    <a:pt x="7741158" y="19050"/>
                  </a:lnTo>
                  <a:lnTo>
                    <a:pt x="7741158" y="0"/>
                  </a:lnTo>
                  <a:cubicBezTo>
                    <a:pt x="7812024" y="0"/>
                    <a:pt x="7869809" y="56642"/>
                    <a:pt x="7869809" y="127127"/>
                  </a:cubicBezTo>
                  <a:lnTo>
                    <a:pt x="7850759" y="127127"/>
                  </a:lnTo>
                  <a:lnTo>
                    <a:pt x="7869809" y="127127"/>
                  </a:lnTo>
                  <a:lnTo>
                    <a:pt x="7869809" y="1929257"/>
                  </a:lnTo>
                  <a:lnTo>
                    <a:pt x="7850759" y="1929257"/>
                  </a:lnTo>
                  <a:lnTo>
                    <a:pt x="7869809" y="1929257"/>
                  </a:lnTo>
                  <a:cubicBezTo>
                    <a:pt x="7869809" y="1999742"/>
                    <a:pt x="7811897" y="2056384"/>
                    <a:pt x="7741158" y="2056384"/>
                  </a:cubicBezTo>
                  <a:lnTo>
                    <a:pt x="7741158" y="2037334"/>
                  </a:lnTo>
                  <a:lnTo>
                    <a:pt x="7741158" y="2056384"/>
                  </a:lnTo>
                  <a:lnTo>
                    <a:pt x="128651" y="2056384"/>
                  </a:lnTo>
                  <a:lnTo>
                    <a:pt x="128651" y="2037334"/>
                  </a:lnTo>
                  <a:lnTo>
                    <a:pt x="128651" y="2056384"/>
                  </a:lnTo>
                  <a:cubicBezTo>
                    <a:pt x="57912" y="2056384"/>
                    <a:pt x="0" y="1999742"/>
                    <a:pt x="0" y="1929257"/>
                  </a:cubicBezTo>
                  <a:lnTo>
                    <a:pt x="0" y="127127"/>
                  </a:lnTo>
                  <a:lnTo>
                    <a:pt x="19050" y="127127"/>
                  </a:lnTo>
                  <a:lnTo>
                    <a:pt x="0" y="127127"/>
                  </a:lnTo>
                  <a:moveTo>
                    <a:pt x="38100" y="127127"/>
                  </a:moveTo>
                  <a:lnTo>
                    <a:pt x="38100" y="1929257"/>
                  </a:lnTo>
                  <a:lnTo>
                    <a:pt x="19050" y="1929257"/>
                  </a:lnTo>
                  <a:lnTo>
                    <a:pt x="38100" y="1929257"/>
                  </a:lnTo>
                  <a:cubicBezTo>
                    <a:pt x="38100" y="1978152"/>
                    <a:pt x="78359" y="2018284"/>
                    <a:pt x="128651" y="2018284"/>
                  </a:cubicBezTo>
                  <a:lnTo>
                    <a:pt x="7741158" y="2018284"/>
                  </a:lnTo>
                  <a:cubicBezTo>
                    <a:pt x="7791450" y="2018284"/>
                    <a:pt x="7831709" y="1978152"/>
                    <a:pt x="7831709" y="1929257"/>
                  </a:cubicBezTo>
                  <a:lnTo>
                    <a:pt x="7831709" y="127127"/>
                  </a:lnTo>
                  <a:cubicBezTo>
                    <a:pt x="7831709" y="78232"/>
                    <a:pt x="7791450" y="38100"/>
                    <a:pt x="7741158" y="38100"/>
                  </a:cubicBezTo>
                  <a:lnTo>
                    <a:pt x="128651" y="38100"/>
                  </a:lnTo>
                  <a:lnTo>
                    <a:pt x="128651" y="19050"/>
                  </a:lnTo>
                  <a:lnTo>
                    <a:pt x="128651" y="38100"/>
                  </a:lnTo>
                  <a:cubicBezTo>
                    <a:pt x="78359" y="38100"/>
                    <a:pt x="38100" y="78232"/>
                    <a:pt x="38100" y="127127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69256" y="6141834"/>
            <a:ext cx="772268" cy="1456582"/>
            <a:chOff x="0" y="0"/>
            <a:chExt cx="1029691" cy="19421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9589" cy="1942084"/>
            </a:xfrm>
            <a:custGeom>
              <a:avLst/>
              <a:gdLst/>
              <a:ahLst/>
              <a:cxnLst/>
              <a:rect r="r" b="b" t="t" l="l"/>
              <a:pathLst>
                <a:path h="1942084" w="1029589">
                  <a:moveTo>
                    <a:pt x="0" y="62357"/>
                  </a:moveTo>
                  <a:cubicBezTo>
                    <a:pt x="0" y="27940"/>
                    <a:pt x="27940" y="0"/>
                    <a:pt x="62357" y="0"/>
                  </a:cubicBezTo>
                  <a:lnTo>
                    <a:pt x="967232" y="0"/>
                  </a:lnTo>
                  <a:cubicBezTo>
                    <a:pt x="1001649" y="0"/>
                    <a:pt x="1029589" y="27940"/>
                    <a:pt x="1029589" y="62357"/>
                  </a:cubicBezTo>
                  <a:lnTo>
                    <a:pt x="1029589" y="1879727"/>
                  </a:lnTo>
                  <a:cubicBezTo>
                    <a:pt x="1029589" y="1914144"/>
                    <a:pt x="1001649" y="1942084"/>
                    <a:pt x="967232" y="1942084"/>
                  </a:cubicBezTo>
                  <a:lnTo>
                    <a:pt x="62357" y="1942084"/>
                  </a:lnTo>
                  <a:cubicBezTo>
                    <a:pt x="27940" y="1942084"/>
                    <a:pt x="0" y="1914144"/>
                    <a:pt x="0" y="1879727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</p:grpSp>
      <p:sp>
        <p:nvSpPr>
          <p:cNvPr name="Freeform 45" id="45" descr="preencoded.png"/>
          <p:cNvSpPr/>
          <p:nvPr/>
        </p:nvSpPr>
        <p:spPr>
          <a:xfrm flipH="false" flipV="false" rot="0">
            <a:off x="10205885" y="6725241"/>
            <a:ext cx="289474" cy="289474"/>
          </a:xfrm>
          <a:custGeom>
            <a:avLst/>
            <a:gdLst/>
            <a:ahLst/>
            <a:cxnLst/>
            <a:rect r="r" b="b" t="t" l="l"/>
            <a:pathLst>
              <a:path h="289474" w="289474">
                <a:moveTo>
                  <a:pt x="0" y="0"/>
                </a:moveTo>
                <a:lnTo>
                  <a:pt x="289474" y="0"/>
                </a:lnTo>
                <a:lnTo>
                  <a:pt x="289474" y="289474"/>
                </a:lnTo>
                <a:lnTo>
                  <a:pt x="0" y="2894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0872940" y="6325343"/>
            <a:ext cx="3334198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Parental Education (ANOVA)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872940" y="6748910"/>
            <a:ext cx="471993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H₀:</a:t>
            </a: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All groups have equal mean scores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872940" y="7126786"/>
            <a:ext cx="471993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H₁:</a:t>
            </a: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At least one group differs significantly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40681" y="7755731"/>
            <a:ext cx="5873801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We'll test these using regression coefficients, p-values, and ANOVA F-statistics.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4671860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DAHAhbVooLs</dc:identifier>
  <dcterms:modified xsi:type="dcterms:W3CDTF">2011-08-01T06:04:30Z</dcterms:modified>
  <cp:revision>1</cp:revision>
  <dc:title>Week 4 Deliverables DATA200.pptx</dc:title>
</cp:coreProperties>
</file>